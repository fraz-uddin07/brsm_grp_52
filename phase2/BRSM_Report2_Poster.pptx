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1.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59" r:id="rId4"/>
  </p:sldMasterIdLst>
  <p:notesMasterIdLst>
    <p:notesMasterId r:id="rId5"/>
  </p:notesMasterIdLst>
  <p:sldIdLst>
    <p:sldId id="256" r:id="rId6"/>
  </p:sldIdLst>
  <p:sldSz cy="21396950" cx="3026662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82" name="Google Shape;82;p1:notes"/>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3"/>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3"/>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4"/>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6"/>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6"/>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6"/>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7"/>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7"/>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7"/>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7"/>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8"/>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9"/>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9"/>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9"/>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10"/>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10"/>
          <p:cNvSpPr/>
          <p:nvPr>
            <p:ph idx="2" type="pic"/>
          </p:nvPr>
        </p:nvSpPr>
        <p:spPr>
          <a:xfrm>
            <a:off x="1792288" y="612775"/>
            <a:ext cx="5486400" cy="4114800"/>
          </a:xfrm>
          <a:prstGeom prst="rect">
            <a:avLst/>
          </a:prstGeom>
          <a:noFill/>
          <a:ln>
            <a:noFill/>
          </a:ln>
        </p:spPr>
      </p:sp>
      <p:sp>
        <p:nvSpPr>
          <p:cNvPr id="64" name="Google Shape;64;p10"/>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1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1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1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1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11"/>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1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1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1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12"/>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12"/>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1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1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1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1"/>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2.png"/><Relationship Id="rId5" Type="http://schemas.openxmlformats.org/officeDocument/2006/relationships/image" Target="../media/image4.png"/><Relationship Id="rId6" Type="http://schemas.openxmlformats.org/officeDocument/2006/relationships/image" Target="../media/image3.png"/><Relationship Id="rId7" Type="http://schemas.openxmlformats.org/officeDocument/2006/relationships/image" Target="../media/image1.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83" name="Shape 83"/>
        <p:cNvGrpSpPr/>
        <p:nvPr/>
      </p:nvGrpSpPr>
      <p:grpSpPr>
        <a:xfrm>
          <a:off x="0" y="0"/>
          <a:ext cx="0" cy="0"/>
          <a:chOff x="0" y="0"/>
          <a:chExt cx="0" cy="0"/>
        </a:xfrm>
      </p:grpSpPr>
      <p:sp>
        <p:nvSpPr>
          <p:cNvPr id="84" name="Google Shape;84;p13"/>
          <p:cNvSpPr/>
          <p:nvPr/>
        </p:nvSpPr>
        <p:spPr>
          <a:xfrm>
            <a:off x="0" y="0"/>
            <a:ext cx="30266640" cy="1691640"/>
          </a:xfrm>
          <a:prstGeom prst="rect">
            <a:avLst/>
          </a:prstGeom>
          <a:solidFill>
            <a:srgbClr val="1B3A5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5" name="Google Shape;85;p13"/>
          <p:cNvSpPr txBox="1"/>
          <p:nvPr/>
        </p:nvSpPr>
        <p:spPr>
          <a:xfrm>
            <a:off x="914400" y="137160"/>
            <a:ext cx="28437840" cy="91440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1" i="0" lang="en-US" sz="3800" u="none" cap="none" strike="noStrike">
                <a:solidFill>
                  <a:srgbClr val="FFFFFF"/>
                </a:solidFill>
                <a:latin typeface="Arial"/>
                <a:ea typeface="Arial"/>
                <a:cs typeface="Arial"/>
                <a:sym typeface="Arial"/>
              </a:rPr>
              <a:t>Hindi Fluency and Semantic Organization:</a:t>
            </a:r>
            <a:br>
              <a:rPr b="1" i="0" lang="en-US" sz="3800" u="none" cap="none" strike="noStrike">
                <a:solidFill>
                  <a:srgbClr val="FFFFFF"/>
                </a:solidFill>
                <a:latin typeface="Arial"/>
                <a:ea typeface="Arial"/>
                <a:cs typeface="Arial"/>
                <a:sym typeface="Arial"/>
              </a:rPr>
            </a:br>
            <a:r>
              <a:rPr b="1" i="0" lang="en-US" sz="3800" u="none" cap="none" strike="noStrike">
                <a:solidFill>
                  <a:srgbClr val="FFFFFF"/>
                </a:solidFill>
                <a:latin typeface="Arial"/>
                <a:ea typeface="Arial"/>
                <a:cs typeface="Arial"/>
                <a:sym typeface="Arial"/>
              </a:rPr>
              <a:t>Advanced Statistical Analysis</a:t>
            </a:r>
            <a:endParaRPr/>
          </a:p>
        </p:txBody>
      </p:sp>
      <p:sp>
        <p:nvSpPr>
          <p:cNvPr id="86" name="Google Shape;86;p13"/>
          <p:cNvSpPr txBox="1"/>
          <p:nvPr/>
        </p:nvSpPr>
        <p:spPr>
          <a:xfrm>
            <a:off x="914400" y="1353312"/>
            <a:ext cx="28437840" cy="274320"/>
          </a:xfrm>
          <a:prstGeom prst="rect">
            <a:avLst/>
          </a:prstGeom>
          <a:noFill/>
          <a:ln>
            <a:noFill/>
          </a:ln>
        </p:spPr>
        <p:txBody>
          <a:bodyPr anchorCtr="0" anchor="t" bIns="45700" lIns="91425" spcFirstLastPara="1" rIns="91425" wrap="square" tIns="45700">
            <a:spAutoFit/>
          </a:bodyPr>
          <a:lstStyle/>
          <a:p>
            <a:pPr indent="0" lvl="0" marL="0" marR="0" rtl="0" algn="ctr">
              <a:spcBef>
                <a:spcPts val="0"/>
              </a:spcBef>
              <a:spcAft>
                <a:spcPts val="0"/>
              </a:spcAft>
              <a:buNone/>
            </a:pPr>
            <a:r>
              <a:rPr b="0" i="1" lang="en-US" sz="1300" u="none" cap="none" strike="noStrike">
                <a:solidFill>
                  <a:srgbClr val="88AACC"/>
                </a:solidFill>
                <a:latin typeface="Arial"/>
                <a:ea typeface="Arial"/>
                <a:cs typeface="Arial"/>
                <a:sym typeface="Arial"/>
              </a:rPr>
              <a:t>BRSM Spring 2026  |  IIIT Hyderabad  |  Verbal Fluency Task + Spatial Arrangement Method</a:t>
            </a:r>
            <a:endParaRPr/>
          </a:p>
        </p:txBody>
      </p:sp>
      <p:sp>
        <p:nvSpPr>
          <p:cNvPr id="87" name="Google Shape;87;p13"/>
          <p:cNvSpPr/>
          <p:nvPr/>
        </p:nvSpPr>
        <p:spPr>
          <a:xfrm>
            <a:off x="320040" y="1828800"/>
            <a:ext cx="7200900" cy="457200"/>
          </a:xfrm>
          <a:prstGeom prst="rect">
            <a:avLst/>
          </a:prstGeom>
          <a:solidFill>
            <a:srgbClr val="2C5F8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88" name="Google Shape;88;p13"/>
          <p:cNvSpPr txBox="1"/>
          <p:nvPr/>
        </p:nvSpPr>
        <p:spPr>
          <a:xfrm>
            <a:off x="429768" y="1865376"/>
            <a:ext cx="6981444"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FFFFFF"/>
                </a:solidFill>
                <a:latin typeface="Arial"/>
                <a:ea typeface="Arial"/>
                <a:cs typeface="Arial"/>
                <a:sym typeface="Arial"/>
              </a:rPr>
              <a:t>ABSTRACT</a:t>
            </a:r>
            <a:endParaRPr/>
          </a:p>
        </p:txBody>
      </p:sp>
      <p:sp>
        <p:nvSpPr>
          <p:cNvPr id="89" name="Google Shape;89;p13"/>
          <p:cNvSpPr txBox="1"/>
          <p:nvPr/>
        </p:nvSpPr>
        <p:spPr>
          <a:xfrm>
            <a:off x="320040" y="2359152"/>
            <a:ext cx="7200900" cy="4484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700" u="none" cap="none" strike="noStrike">
                <a:solidFill>
                  <a:srgbClr val="2A2A2A"/>
                </a:solidFill>
                <a:latin typeface="Calibri"/>
                <a:ea typeface="Calibri"/>
                <a:cs typeface="Calibri"/>
                <a:sym typeface="Calibri"/>
              </a:rPr>
              <a:t>This study investigates lexical retrieval and semantic organization in Hindi speakers using the Verbal Fluency Task (VFT) and Spatial Arrangement Method (SpAM). We analyzed data from 35 participants across four semantic categories (Animals, Foods, Colours, Body Parts), collecting 1,044 word responses and 1,040 spatial placements.</a:t>
            </a:r>
            <a:endParaRPr sz="1700"/>
          </a:p>
          <a:p>
            <a:pPr indent="0" lvl="0" marL="0" marR="0" rtl="0" algn="l">
              <a:spcBef>
                <a:spcPts val="200"/>
              </a:spcBef>
              <a:spcAft>
                <a:spcPts val="0"/>
              </a:spcAft>
              <a:buNone/>
            </a:pPr>
            <a:r>
              <a:t/>
            </a:r>
            <a:endParaRPr b="0"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Using ANOVA, Multiple Regression, Generalized Linear Models, and Bayesian statistics, we found:</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Word production differs across categories (p = .009)</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Hindi proficiency predicts retrieval speed but not word count (ANCOVA p = .007; Bayesian BF₁₀ = 0.091)</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Spatial distance predicts IRT after controlling for category (β = 0.202, p = .044)</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Serial position effect: within-cluster acceleration (β = −0.017, p = .002)</a:t>
            </a:r>
            <a:endParaRPr sz="1700"/>
          </a:p>
          <a:p>
            <a:pPr indent="0" lvl="0" marL="0" marR="0" rtl="0" algn="l">
              <a:spcBef>
                <a:spcPts val="200"/>
              </a:spcBef>
              <a:spcAft>
                <a:spcPts val="0"/>
              </a:spcAft>
              <a:buNone/>
            </a:pPr>
            <a:r>
              <a:t/>
            </a:r>
            <a:endParaRPr b="0"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These findings highlight how choosing the right statistical methods can reveal effects that simpler analyses miss.</a:t>
            </a:r>
            <a:endParaRPr sz="1700"/>
          </a:p>
        </p:txBody>
      </p:sp>
      <p:sp>
        <p:nvSpPr>
          <p:cNvPr id="90" name="Google Shape;90;p13"/>
          <p:cNvSpPr/>
          <p:nvPr/>
        </p:nvSpPr>
        <p:spPr>
          <a:xfrm>
            <a:off x="320015" y="7175962"/>
            <a:ext cx="7200900" cy="457200"/>
          </a:xfrm>
          <a:prstGeom prst="rect">
            <a:avLst/>
          </a:prstGeom>
          <a:solidFill>
            <a:srgbClr val="2C5F8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1" name="Google Shape;91;p13"/>
          <p:cNvSpPr txBox="1"/>
          <p:nvPr/>
        </p:nvSpPr>
        <p:spPr>
          <a:xfrm>
            <a:off x="429743" y="7212538"/>
            <a:ext cx="6981300" cy="40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FFFFFF"/>
                </a:solidFill>
                <a:latin typeface="Arial"/>
                <a:ea typeface="Arial"/>
                <a:cs typeface="Arial"/>
                <a:sym typeface="Arial"/>
              </a:rPr>
              <a:t>METHODOLOGY</a:t>
            </a:r>
            <a:endParaRPr/>
          </a:p>
        </p:txBody>
      </p:sp>
      <p:sp>
        <p:nvSpPr>
          <p:cNvPr id="92" name="Google Shape;92;p13"/>
          <p:cNvSpPr txBox="1"/>
          <p:nvPr/>
        </p:nvSpPr>
        <p:spPr>
          <a:xfrm>
            <a:off x="320015" y="7706314"/>
            <a:ext cx="7200900" cy="2811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700" u="none" cap="none" strike="noStrike">
                <a:solidFill>
                  <a:srgbClr val="2A2A2A"/>
                </a:solidFill>
                <a:latin typeface="Calibri"/>
                <a:ea typeface="Calibri"/>
                <a:cs typeface="Calibri"/>
                <a:sym typeface="Calibri"/>
              </a:rPr>
              <a:t>Data: N = 35 participants; 4 categories; 1,044 word responses; 1,040 SpAM placements. Tasks administered online via jsPsych.</a:t>
            </a:r>
            <a:endParaRPr sz="1700"/>
          </a:p>
          <a:p>
            <a:pPr indent="0" lvl="0" marL="0" marR="0" rtl="0" algn="l">
              <a:spcBef>
                <a:spcPts val="200"/>
              </a:spcBef>
              <a:spcAft>
                <a:spcPts val="0"/>
              </a:spcAft>
              <a:buNone/>
            </a:pPr>
            <a:r>
              <a:t/>
            </a:r>
            <a:endParaRPr b="0"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Preprocessing: Extracted VFT (words + IRT) and SpAM (x,y coordinates) from JSON. Computed pairwise distances, consecutive word distances, log-transformed IRT, and Hindi proficiency composites (average of reading &amp; writing ratings).</a:t>
            </a:r>
            <a:endParaRPr sz="1700"/>
          </a:p>
          <a:p>
            <a:pPr indent="0" lvl="0" marL="0" marR="0" rtl="0" algn="l">
              <a:spcBef>
                <a:spcPts val="200"/>
              </a:spcBef>
              <a:spcAft>
                <a:spcPts val="0"/>
              </a:spcAft>
              <a:buNone/>
            </a:pPr>
            <a:r>
              <a:t/>
            </a:r>
            <a:endParaRPr b="0"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Significance level: α = 0.05 for all tests. Tools: Python (scipy, statsmodels, pingouin).</a:t>
            </a:r>
            <a:endParaRPr sz="1700"/>
          </a:p>
        </p:txBody>
      </p:sp>
      <p:pic>
        <p:nvPicPr>
          <p:cNvPr descr="methodology_pipeline.png" id="93" name="Google Shape;93;p13"/>
          <p:cNvPicPr preferRelativeResize="0"/>
          <p:nvPr/>
        </p:nvPicPr>
        <p:blipFill rotWithShape="1">
          <a:blip r:embed="rId3">
            <a:alphaModFix/>
          </a:blip>
          <a:srcRect b="0" l="0" r="0" t="0"/>
          <a:stretch/>
        </p:blipFill>
        <p:spPr>
          <a:xfrm>
            <a:off x="457175" y="10723834"/>
            <a:ext cx="6926578" cy="9837822"/>
          </a:xfrm>
          <a:prstGeom prst="rect">
            <a:avLst/>
          </a:prstGeom>
          <a:noFill/>
          <a:ln>
            <a:noFill/>
          </a:ln>
        </p:spPr>
      </p:pic>
      <p:sp>
        <p:nvSpPr>
          <p:cNvPr id="94" name="Google Shape;94;p13"/>
          <p:cNvSpPr/>
          <p:nvPr/>
        </p:nvSpPr>
        <p:spPr>
          <a:xfrm>
            <a:off x="7795260" y="1828800"/>
            <a:ext cx="14676120" cy="457200"/>
          </a:xfrm>
          <a:prstGeom prst="rect">
            <a:avLst/>
          </a:prstGeom>
          <a:solidFill>
            <a:srgbClr val="2C5F8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95" name="Google Shape;95;p13"/>
          <p:cNvSpPr txBox="1"/>
          <p:nvPr/>
        </p:nvSpPr>
        <p:spPr>
          <a:xfrm>
            <a:off x="7904988" y="1865376"/>
            <a:ext cx="14456664"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FFFFFF"/>
                </a:solidFill>
                <a:latin typeface="Arial"/>
                <a:ea typeface="Arial"/>
                <a:cs typeface="Arial"/>
                <a:sym typeface="Arial"/>
              </a:rPr>
              <a:t>RESULTS</a:t>
            </a:r>
            <a:endParaRPr/>
          </a:p>
        </p:txBody>
      </p:sp>
      <p:sp>
        <p:nvSpPr>
          <p:cNvPr id="96" name="Google Shape;96;p13"/>
          <p:cNvSpPr txBox="1"/>
          <p:nvPr/>
        </p:nvSpPr>
        <p:spPr>
          <a:xfrm>
            <a:off x="7795260" y="2359152"/>
            <a:ext cx="7200900" cy="2365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2A2A2A"/>
                </a:solidFill>
                <a:latin typeface="Calibri"/>
                <a:ea typeface="Calibri"/>
                <a:cs typeface="Calibri"/>
                <a:sym typeface="Calibri"/>
              </a:rPr>
              <a:t>1. ANOVA — Word Production Across Categories</a:t>
            </a:r>
            <a:endParaRPr sz="1700"/>
          </a:p>
          <a:p>
            <a:pPr indent="0" lvl="0" marL="0" marR="0" rtl="0" algn="l">
              <a:spcBef>
                <a:spcPts val="200"/>
              </a:spcBef>
              <a:spcAft>
                <a:spcPts val="0"/>
              </a:spcAft>
              <a:buNone/>
            </a:pPr>
            <a:r>
              <a:t/>
            </a:r>
            <a:endParaRPr b="1"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One-Way ANOVA: F(3,101) = 4.05, p = .009, η² = .107 (medium effect)</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Colours (M=13.4) &gt; Body Parts (M=8.6): p = .008, Hedges' g = 1.47</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Colours (M=13.4) &gt; Foods (M=9.3): p = .022, Hedges' g = 1.01</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Welch's ANOVA: F(3,39.6) = 5.44, p = .003</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Kruskal-Wallis (non-parametric): H = 13.10, p = .004</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Colours is a smaller, bounded category allowing near-exhaustive retrieval.</a:t>
            </a:r>
            <a:endParaRPr sz="1700"/>
          </a:p>
        </p:txBody>
      </p:sp>
      <p:pic>
        <p:nvPicPr>
          <p:cNvPr descr="anova_word_production.png" id="97" name="Google Shape;97;p13"/>
          <p:cNvPicPr preferRelativeResize="0"/>
          <p:nvPr/>
        </p:nvPicPr>
        <p:blipFill rotWithShape="1">
          <a:blip r:embed="rId4">
            <a:alphaModFix/>
          </a:blip>
          <a:srcRect b="0" l="0" r="0" t="0"/>
          <a:stretch/>
        </p:blipFill>
        <p:spPr>
          <a:xfrm>
            <a:off x="7932420" y="5093822"/>
            <a:ext cx="6926579" cy="2922776"/>
          </a:xfrm>
          <a:prstGeom prst="rect">
            <a:avLst/>
          </a:prstGeom>
          <a:noFill/>
          <a:ln>
            <a:noFill/>
          </a:ln>
        </p:spPr>
      </p:pic>
      <p:sp>
        <p:nvSpPr>
          <p:cNvPr id="98" name="Google Shape;98;p13"/>
          <p:cNvSpPr txBox="1"/>
          <p:nvPr/>
        </p:nvSpPr>
        <p:spPr>
          <a:xfrm>
            <a:off x="7795260" y="8386077"/>
            <a:ext cx="7200900" cy="26268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2A2A2A"/>
                </a:solidFill>
                <a:latin typeface="Calibri"/>
                <a:ea typeface="Calibri"/>
                <a:cs typeface="Calibri"/>
                <a:sym typeface="Calibri"/>
              </a:rPr>
              <a:t>2. ANCOVA — Proficiency Effect Recovered</a:t>
            </a:r>
            <a:endParaRPr sz="1700"/>
          </a:p>
          <a:p>
            <a:pPr indent="0" lvl="0" marL="0" marR="0" rtl="0" algn="l">
              <a:spcBef>
                <a:spcPts val="200"/>
              </a:spcBef>
              <a:spcAft>
                <a:spcPts val="0"/>
              </a:spcAft>
              <a:buNone/>
            </a:pPr>
            <a:r>
              <a:t/>
            </a:r>
            <a:endParaRPr b="1"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Report 1 found proficiency → IRT was NOT significant (p = .060).</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ANCOVA keeps proficiency as a continuous variable (not dichotomized):</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Category: F(3,100) = 3.28, p = .024, η² = .090</a:t>
            </a:r>
            <a:endParaRPr sz="1700"/>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 Hindi Proficiency: F(1,100) = 7.60, p = .007, η² = .071</a:t>
            </a:r>
            <a:endParaRPr sz="1700"/>
          </a:p>
          <a:p>
            <a:pPr indent="0" lvl="0" marL="0" marR="0" rtl="0" algn="l">
              <a:spcBef>
                <a:spcPts val="200"/>
              </a:spcBef>
              <a:spcAft>
                <a:spcPts val="0"/>
              </a:spcAft>
              <a:buNone/>
            </a:pPr>
            <a:r>
              <a:t/>
            </a:r>
            <a:endParaRPr b="1"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Higher proficiency → faster retrieval. Category-level variance was hiding this effect in Report 1.</a:t>
            </a:r>
            <a:endParaRPr sz="1700"/>
          </a:p>
        </p:txBody>
      </p:sp>
      <p:sp>
        <p:nvSpPr>
          <p:cNvPr id="99" name="Google Shape;99;p13"/>
          <p:cNvSpPr txBox="1"/>
          <p:nvPr/>
        </p:nvSpPr>
        <p:spPr>
          <a:xfrm>
            <a:off x="7795248" y="11187337"/>
            <a:ext cx="7200900" cy="2365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2A2A2A"/>
                </a:solidFill>
                <a:latin typeface="Calibri"/>
                <a:ea typeface="Calibri"/>
                <a:cs typeface="Calibri"/>
                <a:sym typeface="Calibri"/>
              </a:rPr>
              <a:t>3. Regression — Spatial Distance Predicts IRT</a:t>
            </a:r>
            <a:endParaRPr sz="1700"/>
          </a:p>
          <a:p>
            <a:pPr indent="0" lvl="0" marL="0" marR="0" rtl="0" algn="l">
              <a:spcBef>
                <a:spcPts val="200"/>
              </a:spcBef>
              <a:spcAft>
                <a:spcPts val="0"/>
              </a:spcAft>
              <a:buNone/>
            </a:pPr>
            <a:r>
              <a:t/>
            </a:r>
            <a:endParaRPr b="1"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Simple regression (no controls): β = 0.031, p = .750 (NOT significant)</a:t>
            </a:r>
            <a:endParaRPr sz="1700"/>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After controlling for category:</a:t>
            </a:r>
            <a:endParaRPr sz="1700"/>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    β = 0.202, p = .044 (SIGNIFICANT)</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Adding serial position: β_dist = 0.225, p = .025; β_order = −0.017, p = .002</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Model comparison: F(4) = 12.35, p &lt; .001</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Category was a confounding variable masking the real effect.</a:t>
            </a:r>
            <a:endParaRPr sz="1700"/>
          </a:p>
        </p:txBody>
      </p:sp>
      <p:pic>
        <p:nvPicPr>
          <p:cNvPr descr="regression_diagnostics.png" id="100" name="Google Shape;100;p13"/>
          <p:cNvPicPr preferRelativeResize="0"/>
          <p:nvPr/>
        </p:nvPicPr>
        <p:blipFill rotWithShape="1">
          <a:blip r:embed="rId5">
            <a:alphaModFix/>
          </a:blip>
          <a:srcRect b="0" l="0" r="0" t="0"/>
          <a:stretch/>
        </p:blipFill>
        <p:spPr>
          <a:xfrm>
            <a:off x="7932407" y="14105382"/>
            <a:ext cx="6926579" cy="4924678"/>
          </a:xfrm>
          <a:prstGeom prst="rect">
            <a:avLst/>
          </a:prstGeom>
          <a:noFill/>
          <a:ln>
            <a:noFill/>
          </a:ln>
        </p:spPr>
      </p:pic>
      <p:sp>
        <p:nvSpPr>
          <p:cNvPr id="101" name="Google Shape;101;p13"/>
          <p:cNvSpPr txBox="1"/>
          <p:nvPr/>
        </p:nvSpPr>
        <p:spPr>
          <a:xfrm>
            <a:off x="15270480" y="2359152"/>
            <a:ext cx="7200900" cy="4089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2A2A2A"/>
                </a:solidFill>
                <a:latin typeface="Calibri"/>
                <a:ea typeface="Calibri"/>
                <a:cs typeface="Calibri"/>
                <a:sym typeface="Calibri"/>
              </a:rPr>
              <a:t>4. Generalized Linear Models</a:t>
            </a:r>
            <a:endParaRPr sz="1700"/>
          </a:p>
          <a:p>
            <a:pPr indent="0" lvl="0" marL="0" marR="0" rtl="0" algn="l">
              <a:spcBef>
                <a:spcPts val="200"/>
              </a:spcBef>
              <a:spcAft>
                <a:spcPts val="0"/>
              </a:spcAft>
              <a:buNone/>
            </a:pPr>
            <a:r>
              <a:t/>
            </a:r>
            <a:endParaRPr b="1"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Poisson GLM (word counts are integers, not continuous):</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Colours: 28% more words than Animals (p &lt; .001)</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Body Parts: 19% fewer words than Animals (p &lt; .001)</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Mild overdispersion (φ = 1.61); Neg. Binomial gave same results.</a:t>
            </a:r>
            <a:endParaRPr sz="1700"/>
          </a:p>
          <a:p>
            <a:pPr indent="0" lvl="0" marL="0" marR="0" rtl="0" algn="l">
              <a:spcBef>
                <a:spcPts val="200"/>
              </a:spcBef>
              <a:spcAft>
                <a:spcPts val="0"/>
              </a:spcAft>
              <a:buNone/>
            </a:pPr>
            <a:r>
              <a:t/>
            </a:r>
            <a:endParaRPr b="0"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Gamma GLM (IRT is always positive &amp; right-skewed):</a:t>
            </a:r>
            <a:endParaRPr sz="1700"/>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 Hindi Proficiency: β = −0.091, p = .025</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Each 1-point increase → 8.7% faster retrieval</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Total Words: β = −0.027, p = .045 (more fluent = faster)</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Colours domain: 29% faster than Animals (p = .007)</a:t>
            </a:r>
            <a:endParaRPr sz="1700"/>
          </a:p>
          <a:p>
            <a:pPr indent="0" lvl="0" marL="0" marR="0" rtl="0" algn="l">
              <a:spcBef>
                <a:spcPts val="200"/>
              </a:spcBef>
              <a:spcAft>
                <a:spcPts val="0"/>
              </a:spcAft>
              <a:buNone/>
            </a:pPr>
            <a:r>
              <a:t/>
            </a:r>
            <a:endParaRPr b="0"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GLMs found effects OLS missed by correctly modeling data distribution.</a:t>
            </a:r>
            <a:endParaRPr sz="1700"/>
          </a:p>
        </p:txBody>
      </p:sp>
      <p:pic>
        <p:nvPicPr>
          <p:cNvPr descr="glm_results.png" id="102" name="Google Shape;102;p13"/>
          <p:cNvPicPr preferRelativeResize="0"/>
          <p:nvPr/>
        </p:nvPicPr>
        <p:blipFill rotWithShape="1">
          <a:blip r:embed="rId6">
            <a:alphaModFix/>
          </a:blip>
          <a:srcRect b="0" l="0" r="0" t="0"/>
          <a:stretch/>
        </p:blipFill>
        <p:spPr>
          <a:xfrm>
            <a:off x="15441914" y="6992112"/>
            <a:ext cx="6926579" cy="2922776"/>
          </a:xfrm>
          <a:prstGeom prst="rect">
            <a:avLst/>
          </a:prstGeom>
          <a:noFill/>
          <a:ln>
            <a:noFill/>
          </a:ln>
        </p:spPr>
      </p:pic>
      <p:sp>
        <p:nvSpPr>
          <p:cNvPr id="103" name="Google Shape;103;p13"/>
          <p:cNvSpPr txBox="1"/>
          <p:nvPr/>
        </p:nvSpPr>
        <p:spPr>
          <a:xfrm>
            <a:off x="15325343" y="10674085"/>
            <a:ext cx="7200900" cy="15033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2A2A2A"/>
                </a:solidFill>
                <a:latin typeface="Calibri"/>
                <a:ea typeface="Calibri"/>
                <a:cs typeface="Calibri"/>
                <a:sym typeface="Calibri"/>
              </a:rPr>
              <a:t>5. Serial Position Effect</a:t>
            </a:r>
            <a:endParaRPr sz="1700"/>
          </a:p>
          <a:p>
            <a:pPr indent="0" lvl="0" marL="0" marR="0" rtl="0" algn="l">
              <a:spcBef>
                <a:spcPts val="200"/>
              </a:spcBef>
              <a:spcAft>
                <a:spcPts val="0"/>
              </a:spcAft>
              <a:buNone/>
            </a:pPr>
            <a:r>
              <a:t/>
            </a:r>
            <a:endParaRPr b="1"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β = −0.017, t = −3.18, p = .002</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Each position → ~1.7% faster retrieval.</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Pattern: startup → within-cluster acceleration → slowdown at ~position 12.</a:t>
            </a:r>
            <a:endParaRPr sz="1700"/>
          </a:p>
        </p:txBody>
      </p:sp>
      <p:pic>
        <p:nvPicPr>
          <p:cNvPr descr="serial_position_effect.png" id="104" name="Google Shape;104;p13"/>
          <p:cNvPicPr preferRelativeResize="0"/>
          <p:nvPr/>
        </p:nvPicPr>
        <p:blipFill rotWithShape="1">
          <a:blip r:embed="rId7">
            <a:alphaModFix/>
          </a:blip>
          <a:srcRect b="0" l="0" r="0" t="0"/>
          <a:stretch/>
        </p:blipFill>
        <p:spPr>
          <a:xfrm>
            <a:off x="15448777" y="12705572"/>
            <a:ext cx="6926579" cy="2922776"/>
          </a:xfrm>
          <a:prstGeom prst="rect">
            <a:avLst/>
          </a:prstGeom>
          <a:noFill/>
          <a:ln>
            <a:noFill/>
          </a:ln>
        </p:spPr>
      </p:pic>
      <p:sp>
        <p:nvSpPr>
          <p:cNvPr id="105" name="Google Shape;105;p13"/>
          <p:cNvSpPr txBox="1"/>
          <p:nvPr/>
        </p:nvSpPr>
        <p:spPr>
          <a:xfrm>
            <a:off x="15270480" y="16342732"/>
            <a:ext cx="7200900" cy="29400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2A2A2A"/>
                </a:solidFill>
                <a:latin typeface="Calibri"/>
                <a:ea typeface="Calibri"/>
                <a:cs typeface="Calibri"/>
                <a:sym typeface="Calibri"/>
              </a:rPr>
              <a:t>6. Bayesian Analysis</a:t>
            </a:r>
            <a:endParaRPr sz="1700"/>
          </a:p>
          <a:p>
            <a:pPr indent="0" lvl="0" marL="0" marR="0" rtl="0" algn="l">
              <a:spcBef>
                <a:spcPts val="200"/>
              </a:spcBef>
              <a:spcAft>
                <a:spcPts val="0"/>
              </a:spcAft>
              <a:buNone/>
            </a:pPr>
            <a:r>
              <a:t/>
            </a:r>
            <a:endParaRPr b="1"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Bayesian t-test (IRT by proficiency group): BF₁₀ = 1.02</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 Inconclusive with dichotomized groups.</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Bayesian correlation (spatial dist vs IRT): BF₁₀ = 0.064</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 Strong evidence for NO simple effect.</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BIC model comparison (proficiency → word count): BF₁₀ = 0.091</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    → Strong evidence proficiency does NOT predict quantity.</a:t>
            </a:r>
            <a:endParaRPr sz="1700"/>
          </a:p>
          <a:p>
            <a:pPr indent="0" lvl="0" marL="0" marR="0" rtl="0" algn="l">
              <a:spcBef>
                <a:spcPts val="200"/>
              </a:spcBef>
              <a:spcAft>
                <a:spcPts val="0"/>
              </a:spcAft>
              <a:buNone/>
            </a:pPr>
            <a:r>
              <a:t/>
            </a:r>
            <a:endParaRPr b="0"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Takeaway: Proficiency affects SPEED but NOT QUANTITY.</a:t>
            </a:r>
            <a:endParaRPr sz="1700"/>
          </a:p>
        </p:txBody>
      </p:sp>
      <p:sp>
        <p:nvSpPr>
          <p:cNvPr id="106" name="Google Shape;106;p13"/>
          <p:cNvSpPr/>
          <p:nvPr/>
        </p:nvSpPr>
        <p:spPr>
          <a:xfrm>
            <a:off x="22745700" y="1828800"/>
            <a:ext cx="7200900" cy="457200"/>
          </a:xfrm>
          <a:prstGeom prst="rect">
            <a:avLst/>
          </a:prstGeom>
          <a:solidFill>
            <a:srgbClr val="2C5F8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7" name="Google Shape;107;p13"/>
          <p:cNvSpPr txBox="1"/>
          <p:nvPr/>
        </p:nvSpPr>
        <p:spPr>
          <a:xfrm>
            <a:off x="22855428" y="1865376"/>
            <a:ext cx="6981444" cy="41148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FFFFFF"/>
                </a:solidFill>
                <a:latin typeface="Arial"/>
                <a:ea typeface="Arial"/>
                <a:cs typeface="Arial"/>
                <a:sym typeface="Arial"/>
              </a:rPr>
              <a:t>CONCLUSIONS</a:t>
            </a:r>
            <a:endParaRPr/>
          </a:p>
        </p:txBody>
      </p:sp>
      <p:sp>
        <p:nvSpPr>
          <p:cNvPr id="108" name="Google Shape;108;p13"/>
          <p:cNvSpPr txBox="1"/>
          <p:nvPr/>
        </p:nvSpPr>
        <p:spPr>
          <a:xfrm>
            <a:off x="22745700" y="2359152"/>
            <a:ext cx="7200900" cy="53976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2A2A2A"/>
                </a:solidFill>
                <a:latin typeface="Calibri"/>
                <a:ea typeface="Calibri"/>
                <a:cs typeface="Calibri"/>
                <a:sym typeface="Calibri"/>
              </a:rPr>
              <a:t>1. Category matters for word production.</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Colours produces significantly more words than Body Parts (p=.008) and Foods (p=.022). Bounded categories allow near-exhaustive retrieval.</a:t>
            </a:r>
            <a:endParaRPr sz="1700"/>
          </a:p>
          <a:p>
            <a:pPr indent="0" lvl="0" marL="0" marR="0" rtl="0" algn="l">
              <a:spcBef>
                <a:spcPts val="200"/>
              </a:spcBef>
              <a:spcAft>
                <a:spcPts val="0"/>
              </a:spcAft>
              <a:buNone/>
            </a:pPr>
            <a:r>
              <a:t/>
            </a:r>
            <a:endParaRPr b="0"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2. Proficiency predicts speed, not quantity.</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ANCOVA (p=.007) and Gamma GLM (p=.025) recovered a proficiency→speed effect that Report 1 missed. Bayesian analysis (BF₁₀=0.091) confirms proficiency does NOT predict word count.</a:t>
            </a:r>
            <a:endParaRPr sz="1700"/>
          </a:p>
          <a:p>
            <a:pPr indent="0" lvl="0" marL="0" marR="0" rtl="0" algn="l">
              <a:spcBef>
                <a:spcPts val="200"/>
              </a:spcBef>
              <a:spcAft>
                <a:spcPts val="0"/>
              </a:spcAft>
              <a:buNone/>
            </a:pPr>
            <a:r>
              <a:t/>
            </a:r>
            <a:endParaRPr b="0"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3. Spatial distance predicts IRT after controls.</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Simple correlation (p=.750) masked a suppression effect. Controlling for category reveals the true relationship (β=0.202, p=.044).</a:t>
            </a:r>
            <a:endParaRPr sz="1700"/>
          </a:p>
          <a:p>
            <a:pPr indent="0" lvl="0" marL="0" marR="0" rtl="0" algn="l">
              <a:spcBef>
                <a:spcPts val="200"/>
              </a:spcBef>
              <a:spcAft>
                <a:spcPts val="0"/>
              </a:spcAft>
              <a:buNone/>
            </a:pPr>
            <a:r>
              <a:t/>
            </a:r>
            <a:endParaRPr b="0"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4. Serial position drives retrieval dynamics.</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Within-cluster acceleration (β=−0.017, p=.002): ~1.7% speedup per position.</a:t>
            </a:r>
            <a:endParaRPr sz="1700"/>
          </a:p>
          <a:p>
            <a:pPr indent="0" lvl="0" marL="0" marR="0" rtl="0" algn="l">
              <a:spcBef>
                <a:spcPts val="200"/>
              </a:spcBef>
              <a:spcAft>
                <a:spcPts val="0"/>
              </a:spcAft>
              <a:buNone/>
            </a:pPr>
            <a:r>
              <a:t/>
            </a:r>
            <a:endParaRPr b="0"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5. Statistical model choice matters.</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Poisson/Gamma GLMs found effects that ordinary regression missed by correctly modeling count data and skewed response times.</a:t>
            </a:r>
            <a:endParaRPr sz="1700"/>
          </a:p>
        </p:txBody>
      </p:sp>
      <p:sp>
        <p:nvSpPr>
          <p:cNvPr id="109" name="Google Shape;109;p13"/>
          <p:cNvSpPr/>
          <p:nvPr/>
        </p:nvSpPr>
        <p:spPr>
          <a:xfrm>
            <a:off x="22855425" y="8570213"/>
            <a:ext cx="7200900" cy="457200"/>
          </a:xfrm>
          <a:prstGeom prst="rect">
            <a:avLst/>
          </a:prstGeom>
          <a:solidFill>
            <a:srgbClr val="2C5F8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0" name="Google Shape;110;p13"/>
          <p:cNvSpPr txBox="1"/>
          <p:nvPr/>
        </p:nvSpPr>
        <p:spPr>
          <a:xfrm>
            <a:off x="22965153" y="8606789"/>
            <a:ext cx="6981300" cy="40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FFFFFF"/>
                </a:solidFill>
                <a:latin typeface="Arial"/>
                <a:ea typeface="Arial"/>
                <a:cs typeface="Arial"/>
                <a:sym typeface="Arial"/>
              </a:rPr>
              <a:t>TEAM CONTRIBUTIONS</a:t>
            </a:r>
            <a:endParaRPr/>
          </a:p>
        </p:txBody>
      </p:sp>
      <p:sp>
        <p:nvSpPr>
          <p:cNvPr id="111" name="Google Shape;111;p13"/>
          <p:cNvSpPr txBox="1"/>
          <p:nvPr/>
        </p:nvSpPr>
        <p:spPr>
          <a:xfrm>
            <a:off x="22855425" y="9100565"/>
            <a:ext cx="7200900" cy="2365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1700" u="none" cap="none" strike="noStrike">
                <a:solidFill>
                  <a:srgbClr val="2A2A2A"/>
                </a:solidFill>
                <a:latin typeface="Calibri"/>
                <a:ea typeface="Calibri"/>
                <a:cs typeface="Calibri"/>
                <a:sym typeface="Calibri"/>
              </a:rPr>
              <a:t>Deban Kumar Shahi (2024201048)</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ANOVA analyses, regression modeling, assumption testing, model diagnostics.</a:t>
            </a:r>
            <a:endParaRPr sz="1700"/>
          </a:p>
          <a:p>
            <a:pPr indent="0" lvl="0" marL="0" marR="0" rtl="0" algn="l">
              <a:spcBef>
                <a:spcPts val="200"/>
              </a:spcBef>
              <a:spcAft>
                <a:spcPts val="0"/>
              </a:spcAft>
              <a:buNone/>
            </a:pPr>
            <a:r>
              <a:t/>
            </a:r>
            <a:endParaRPr b="0"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Md Fraz Uddin (2024201064)</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Python pipeline, figures, GLM &amp; Bayesian analyses, report &amp; poster.</a:t>
            </a:r>
            <a:endParaRPr sz="1700"/>
          </a:p>
          <a:p>
            <a:pPr indent="0" lvl="0" marL="0" marR="0" rtl="0" algn="l">
              <a:spcBef>
                <a:spcPts val="200"/>
              </a:spcBef>
              <a:spcAft>
                <a:spcPts val="0"/>
              </a:spcAft>
              <a:buNone/>
            </a:pPr>
            <a:r>
              <a:t/>
            </a:r>
            <a:endParaRPr b="0" i="0" sz="1700" u="none" cap="none" strike="noStrike">
              <a:solidFill>
                <a:srgbClr val="2A2A2A"/>
              </a:solidFill>
              <a:latin typeface="Calibri"/>
              <a:ea typeface="Calibri"/>
              <a:cs typeface="Calibri"/>
              <a:sym typeface="Calibri"/>
            </a:endParaRPr>
          </a:p>
          <a:p>
            <a:pPr indent="0" lvl="0" marL="0" marR="0" rtl="0" algn="l">
              <a:spcBef>
                <a:spcPts val="200"/>
              </a:spcBef>
              <a:spcAft>
                <a:spcPts val="0"/>
              </a:spcAft>
              <a:buNone/>
            </a:pPr>
            <a:r>
              <a:rPr b="1" i="0" lang="en-US" sz="1700" u="none" cap="none" strike="noStrike">
                <a:solidFill>
                  <a:srgbClr val="2A2A2A"/>
                </a:solidFill>
                <a:latin typeface="Calibri"/>
                <a:ea typeface="Calibri"/>
                <a:cs typeface="Calibri"/>
                <a:sym typeface="Calibri"/>
              </a:rPr>
              <a:t>Suraj Lalwani (2024201071)</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Data extraction from JSON, SpAM metrics, preprocessing pipelines.</a:t>
            </a:r>
            <a:endParaRPr sz="1700"/>
          </a:p>
        </p:txBody>
      </p:sp>
      <p:sp>
        <p:nvSpPr>
          <p:cNvPr id="112" name="Google Shape;112;p13"/>
          <p:cNvSpPr/>
          <p:nvPr/>
        </p:nvSpPr>
        <p:spPr>
          <a:xfrm>
            <a:off x="22965150" y="12809605"/>
            <a:ext cx="7200900" cy="457200"/>
          </a:xfrm>
          <a:prstGeom prst="rect">
            <a:avLst/>
          </a:prstGeom>
          <a:solidFill>
            <a:srgbClr val="2C5F8A"/>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3" name="Google Shape;113;p13"/>
          <p:cNvSpPr txBox="1"/>
          <p:nvPr/>
        </p:nvSpPr>
        <p:spPr>
          <a:xfrm>
            <a:off x="23074878" y="12846181"/>
            <a:ext cx="6981300" cy="4002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1" i="0" lang="en-US" sz="2000" u="none" cap="none" strike="noStrike">
                <a:solidFill>
                  <a:srgbClr val="FFFFFF"/>
                </a:solidFill>
                <a:latin typeface="Arial"/>
                <a:ea typeface="Arial"/>
                <a:cs typeface="Arial"/>
                <a:sym typeface="Arial"/>
              </a:rPr>
              <a:t>REFERENCES</a:t>
            </a:r>
            <a:endParaRPr/>
          </a:p>
        </p:txBody>
      </p:sp>
      <p:sp>
        <p:nvSpPr>
          <p:cNvPr id="114" name="Google Shape;114;p13"/>
          <p:cNvSpPr txBox="1"/>
          <p:nvPr/>
        </p:nvSpPr>
        <p:spPr>
          <a:xfrm>
            <a:off x="22965150" y="13339957"/>
            <a:ext cx="7200900" cy="228840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700" u="none" cap="none" strike="noStrike">
                <a:solidFill>
                  <a:srgbClr val="2A2A2A"/>
                </a:solidFill>
                <a:latin typeface="Calibri"/>
                <a:ea typeface="Calibri"/>
                <a:cs typeface="Calibri"/>
                <a:sym typeface="Calibri"/>
              </a:rPr>
              <a:t>[1] Lezak et al. (2012). Neuropsychological Assessment. Oxford UP.</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[2] Troyer et al. (1997). Clustering and switching in verbal fluency. Neuropsychology, 11(1), 138–146.</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[3] Koch et al. (2016). Spatial arrangement method. Behavior Research Methods, 48, 442–456.</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[4] Jeffreys, H. (1961). Theory of Probability. Oxford UP.</a:t>
            </a:r>
            <a:endParaRPr sz="1700"/>
          </a:p>
          <a:p>
            <a:pPr indent="0" lvl="0" marL="0" marR="0" rtl="0" algn="l">
              <a:spcBef>
                <a:spcPts val="200"/>
              </a:spcBef>
              <a:spcAft>
                <a:spcPts val="0"/>
              </a:spcAft>
              <a:buNone/>
            </a:pPr>
            <a:r>
              <a:rPr b="0" i="0" lang="en-US" sz="1700" u="none" cap="none" strike="noStrike">
                <a:solidFill>
                  <a:srgbClr val="2A2A2A"/>
                </a:solidFill>
                <a:latin typeface="Calibri"/>
                <a:ea typeface="Calibri"/>
                <a:cs typeface="Calibri"/>
                <a:sym typeface="Calibri"/>
              </a:rPr>
              <a:t>[5] Dautriche et al. (2016). Wordform similarity. Cognitive Science, 41, 2149–2169.</a:t>
            </a:r>
            <a:endParaRPr sz="1700"/>
          </a:p>
        </p:txBody>
      </p:sp>
      <p:sp>
        <p:nvSpPr>
          <p:cNvPr id="115" name="Google Shape;115;p13"/>
          <p:cNvSpPr/>
          <p:nvPr/>
        </p:nvSpPr>
        <p:spPr>
          <a:xfrm>
            <a:off x="0" y="20894039"/>
            <a:ext cx="30266640" cy="502920"/>
          </a:xfrm>
          <a:prstGeom prst="rect">
            <a:avLst/>
          </a:prstGeom>
          <a:solidFill>
            <a:srgbClr val="1B3A5C"/>
          </a:solidFill>
          <a:ln>
            <a:noFill/>
          </a:ln>
          <a:effectLst>
            <a:outerShdw blurRad="40000" rotWithShape="0" dir="5400000" dist="23000">
              <a:srgbClr val="000000">
                <a:alpha val="34901"/>
              </a:srgbClr>
            </a:outerShdw>
          </a:effectLst>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6" name="Google Shape;116;p13"/>
          <p:cNvSpPr txBox="1"/>
          <p:nvPr/>
        </p:nvSpPr>
        <p:spPr>
          <a:xfrm>
            <a:off x="457200" y="20967191"/>
            <a:ext cx="12801600" cy="365760"/>
          </a:xfrm>
          <a:prstGeom prst="rect">
            <a:avLst/>
          </a:prstGeom>
          <a:noFill/>
          <a:ln>
            <a:noFill/>
          </a:ln>
        </p:spPr>
        <p:txBody>
          <a:bodyPr anchorCtr="0" anchor="t" bIns="45700" lIns="91425" spcFirstLastPara="1" rIns="91425" wrap="square" tIns="45700">
            <a:spAutoFit/>
          </a:bodyPr>
          <a:lstStyle/>
          <a:p>
            <a:pPr indent="0" lvl="0" marL="0" marR="0" rtl="0" algn="l">
              <a:spcBef>
                <a:spcPts val="0"/>
              </a:spcBef>
              <a:spcAft>
                <a:spcPts val="0"/>
              </a:spcAft>
              <a:buNone/>
            </a:pPr>
            <a:r>
              <a:rPr b="0" i="0" lang="en-US" sz="1300" u="none" cap="none" strike="noStrike">
                <a:solidFill>
                  <a:srgbClr val="FFFFFF"/>
                </a:solidFill>
                <a:latin typeface="Arial"/>
                <a:ea typeface="Arial"/>
                <a:cs typeface="Arial"/>
                <a:sym typeface="Arial"/>
              </a:rPr>
              <a:t>BRSM Spring 2026  •  IIIT Hyderabad  •  Hindi Verbal Fluency &amp; Semantic Organization</a:t>
            </a:r>
            <a:endParaRPr/>
          </a:p>
        </p:txBody>
      </p:sp>
      <p:sp>
        <p:nvSpPr>
          <p:cNvPr id="117" name="Google Shape;117;p13"/>
          <p:cNvSpPr txBox="1"/>
          <p:nvPr/>
        </p:nvSpPr>
        <p:spPr>
          <a:xfrm>
            <a:off x="17465040" y="20967191"/>
            <a:ext cx="12344400" cy="276900"/>
          </a:xfrm>
          <a:prstGeom prst="rect">
            <a:avLst/>
          </a:prstGeom>
          <a:noFill/>
          <a:ln>
            <a:noFill/>
          </a:ln>
        </p:spPr>
        <p:txBody>
          <a:bodyPr anchorCtr="0" anchor="t" bIns="45700" lIns="91425" spcFirstLastPara="1" rIns="91425" wrap="square" tIns="45700">
            <a:spAutoFit/>
          </a:bodyPr>
          <a:lstStyle/>
          <a:p>
            <a:pPr indent="0" lvl="0" marL="0" marR="0" rtl="0" algn="r">
              <a:spcBef>
                <a:spcPts val="0"/>
              </a:spcBef>
              <a:spcAft>
                <a:spcPts val="0"/>
              </a:spcAft>
              <a:buNone/>
            </a:pPr>
            <a:r>
              <a:rPr b="0" i="0" lang="en-US" sz="1200" u="none" cap="none" strike="noStrike">
                <a:solidFill>
                  <a:srgbClr val="AACCEE"/>
                </a:solidFill>
                <a:latin typeface="Arial"/>
                <a:ea typeface="Arial"/>
                <a:cs typeface="Arial"/>
                <a:sym typeface="Arial"/>
              </a:rPr>
              <a:t>GitHub: github.com/fraz-uddin07/BRSM_GRP_52  </a:t>
            </a:r>
            <a:endParaRPr/>
          </a:p>
        </p:txBody>
      </p:sp>
      <p:sp>
        <p:nvSpPr>
          <p:cNvPr id="118" name="Google Shape;118;p13"/>
          <p:cNvSpPr txBox="1"/>
          <p:nvPr/>
        </p:nvSpPr>
        <p:spPr>
          <a:xfrm>
            <a:off x="26515125" y="-25"/>
            <a:ext cx="3751500" cy="1691700"/>
          </a:xfrm>
          <a:prstGeom prst="rect">
            <a:avLst/>
          </a:prstGeom>
          <a:solidFill>
            <a:srgbClr val="888888"/>
          </a:solidFill>
          <a:ln>
            <a:noFill/>
          </a:ln>
        </p:spPr>
        <p:txBody>
          <a:bodyPr anchorCtr="0" anchor="t" bIns="50800" lIns="50800" spcFirstLastPara="1" rIns="50800" wrap="square" tIns="50800">
            <a:noAutofit/>
          </a:bodyPr>
          <a:lstStyle/>
          <a:p>
            <a:pPr indent="0" lvl="0" marL="0" marR="0" rtl="0" algn="l">
              <a:lnSpc>
                <a:spcPct val="119970"/>
              </a:lnSpc>
              <a:spcBef>
                <a:spcPts val="0"/>
              </a:spcBef>
              <a:spcAft>
                <a:spcPts val="0"/>
              </a:spcAft>
              <a:buNone/>
            </a:pPr>
            <a:r>
              <a:rPr b="1" i="0" lang="en-US" sz="2372" u="none" cap="none" strike="noStrike">
                <a:solidFill>
                  <a:srgbClr val="000000"/>
                </a:solidFill>
                <a:latin typeface="Arial"/>
                <a:ea typeface="Arial"/>
                <a:cs typeface="Arial"/>
                <a:sym typeface="Arial"/>
              </a:rPr>
              <a:t>BRSM PROJECT POSTER PRESENTATION SP 2026</a:t>
            </a:r>
            <a:endParaRPr sz="2400"/>
          </a:p>
        </p:txBody>
      </p:sp>
      <p:sp>
        <p:nvSpPr>
          <p:cNvPr id="119" name="Google Shape;119;p13"/>
          <p:cNvSpPr txBox="1"/>
          <p:nvPr/>
        </p:nvSpPr>
        <p:spPr>
          <a:xfrm>
            <a:off x="457200" y="0"/>
            <a:ext cx="4278000" cy="14775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4200">
                <a:solidFill>
                  <a:schemeClr val="lt1"/>
                </a:solidFill>
                <a:latin typeface="Calibri"/>
                <a:ea typeface="Calibri"/>
                <a:cs typeface="Calibri"/>
                <a:sym typeface="Calibri"/>
              </a:rPr>
              <a:t>Team Name - Rockers</a:t>
            </a:r>
            <a:endParaRPr sz="4200">
              <a:solidFill>
                <a:schemeClr val="lt1"/>
              </a:solidFill>
              <a:latin typeface="Calibri"/>
              <a:ea typeface="Calibri"/>
              <a:cs typeface="Calibri"/>
              <a:sym typeface="Calibri"/>
            </a:endParaRPr>
          </a:p>
        </p:txBody>
      </p:sp>
      <p:sp>
        <p:nvSpPr>
          <p:cNvPr id="120" name="Google Shape;120;p13"/>
          <p:cNvSpPr txBox="1"/>
          <p:nvPr/>
        </p:nvSpPr>
        <p:spPr>
          <a:xfrm>
            <a:off x="8723400" y="20862650"/>
            <a:ext cx="15675300" cy="5850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lang="en-US" sz="2600">
                <a:solidFill>
                  <a:schemeClr val="lt1"/>
                </a:solidFill>
                <a:latin typeface="Calibri"/>
                <a:ea typeface="Calibri"/>
                <a:cs typeface="Calibri"/>
                <a:sym typeface="Calibri"/>
              </a:rPr>
              <a:t>Md Fraz Uddin(2024201064), Suraj Lalwani(2024201071) and Deban Shahi(2024201048)</a:t>
            </a:r>
            <a:endParaRPr sz="2600">
              <a:solidFill>
                <a:schemeClr val="lt1"/>
              </a:solidFill>
              <a:latin typeface="Calibri"/>
              <a:ea typeface="Calibri"/>
              <a:cs typeface="Calibri"/>
              <a:sym typeface="Calibri"/>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