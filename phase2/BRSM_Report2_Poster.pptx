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0266640" cy="2139696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266640" cy="1691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
            <a:ext cx="28437840" cy="914400"/>
          </a:xfrm>
          <a:prstGeom prst="rect">
            <a:avLst/>
          </a:prstGeom>
          <a:noFill/>
        </p:spPr>
        <p:txBody>
          <a:bodyPr wrap="square">
            <a:spAutoFit/>
          </a:bodyPr>
          <a:lstStyle/>
          <a:p>
            <a:pPr algn="ctr">
              <a:defRPr sz="3800" b="1" i="0">
                <a:solidFill>
                  <a:srgbClr val="FFFFFF"/>
                </a:solidFill>
                <a:latin typeface="Arial"/>
              </a:defRPr>
            </a:pPr>
            <a:r>
              <a:t>Hindi Fluency and Semantic Organization:</a:t>
            </a:r>
            <a:br/>
            <a:r>
              <a:t>Advanced Statistical Analysis</a:t>
            </a:r>
          </a:p>
        </p:txBody>
      </p:sp>
      <p:sp>
        <p:nvSpPr>
          <p:cNvPr id="4" name="TextBox 3"/>
          <p:cNvSpPr txBox="1"/>
          <p:nvPr/>
        </p:nvSpPr>
        <p:spPr>
          <a:xfrm>
            <a:off x="914400" y="1051560"/>
            <a:ext cx="28437840" cy="320040"/>
          </a:xfrm>
          <a:prstGeom prst="rect">
            <a:avLst/>
          </a:prstGeom>
          <a:noFill/>
        </p:spPr>
        <p:txBody>
          <a:bodyPr wrap="square">
            <a:spAutoFit/>
          </a:bodyPr>
          <a:lstStyle/>
          <a:p>
            <a:pPr algn="ctr">
              <a:defRPr sz="1700" b="0" i="0">
                <a:solidFill>
                  <a:srgbClr val="BBD5EE"/>
                </a:solidFill>
                <a:latin typeface="Arial"/>
              </a:defRPr>
            </a:pPr>
            <a:r>
              <a:t>Deban Kumar Shahi (2024201048)  •  Md Fraz Uddin (2024201064)  •  Suraj Lalwani (2024201071)</a:t>
            </a:r>
          </a:p>
        </p:txBody>
      </p:sp>
      <p:sp>
        <p:nvSpPr>
          <p:cNvPr id="5" name="TextBox 4"/>
          <p:cNvSpPr txBox="1"/>
          <p:nvPr/>
        </p:nvSpPr>
        <p:spPr>
          <a:xfrm>
            <a:off x="914400" y="1353312"/>
            <a:ext cx="28437840" cy="274320"/>
          </a:xfrm>
          <a:prstGeom prst="rect">
            <a:avLst/>
          </a:prstGeom>
          <a:noFill/>
        </p:spPr>
        <p:txBody>
          <a:bodyPr wrap="square">
            <a:spAutoFit/>
          </a:bodyPr>
          <a:lstStyle/>
          <a:p>
            <a:pPr algn="ctr">
              <a:defRPr sz="1300" b="0" i="1">
                <a:solidFill>
                  <a:srgbClr val="88AACC"/>
                </a:solidFill>
                <a:latin typeface="Arial"/>
              </a:defRPr>
            </a:pPr>
            <a:r>
              <a:t>BRSM Spring 2026  |  IIIT Hyderabad  |  Verbal Fluency Task + Spatial Arrangement Method</a:t>
            </a:r>
          </a:p>
        </p:txBody>
      </p:sp>
      <p:sp>
        <p:nvSpPr>
          <p:cNvPr id="6" name="Rectangle 5"/>
          <p:cNvSpPr/>
          <p:nvPr/>
        </p:nvSpPr>
        <p:spPr>
          <a:xfrm>
            <a:off x="320040" y="1828800"/>
            <a:ext cx="7200900" cy="457200"/>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9768" y="1865376"/>
            <a:ext cx="6981444" cy="411480"/>
          </a:xfrm>
          <a:prstGeom prst="rect">
            <a:avLst/>
          </a:prstGeom>
          <a:noFill/>
        </p:spPr>
        <p:txBody>
          <a:bodyPr wrap="square">
            <a:spAutoFit/>
          </a:bodyPr>
          <a:lstStyle/>
          <a:p>
            <a:pPr algn="l">
              <a:defRPr sz="2000" b="1" i="0">
                <a:solidFill>
                  <a:srgbClr val="FFFFFF"/>
                </a:solidFill>
                <a:latin typeface="Arial"/>
              </a:defRPr>
            </a:pPr>
            <a:r>
              <a:t>ABSTRACT</a:t>
            </a:r>
          </a:p>
        </p:txBody>
      </p:sp>
      <p:sp>
        <p:nvSpPr>
          <p:cNvPr id="8" name="TextBox 7"/>
          <p:cNvSpPr txBox="1"/>
          <p:nvPr/>
        </p:nvSpPr>
        <p:spPr>
          <a:xfrm>
            <a:off x="320040" y="2359152"/>
            <a:ext cx="7200900" cy="4114800"/>
          </a:xfrm>
          <a:prstGeom prst="rect">
            <a:avLst/>
          </a:prstGeom>
          <a:noFill/>
        </p:spPr>
        <p:txBody>
          <a:bodyPr wrap="square">
            <a:spAutoFit/>
          </a:bodyPr>
          <a:lstStyle/>
          <a:p>
            <a:pPr algn="l">
              <a:spcBef>
                <a:spcPts val="100"/>
              </a:spcBef>
              <a:spcAft>
                <a:spcPts val="100"/>
              </a:spcAft>
              <a:defRPr sz="1400" b="0">
                <a:solidFill>
                  <a:srgbClr val="2A2A2A"/>
                </a:solidFill>
                <a:latin typeface="Calibri"/>
              </a:defRPr>
            </a:pPr>
            <a:r>
              <a:t>This study investigates lexical retrieval and semantic organization in Hindi speakers using the Verbal Fluency Task (VFT) and Spatial Arrangement Method (SpAM). We analyzed data from 35 participants across four semantic categories (Animals, Foods, Colours, Body Parts), collecting 1,044 word responses and 1,040 spatial placements.</a:t>
            </a:r>
          </a:p>
          <a:p>
            <a:pPr algn="l">
              <a:spcBef>
                <a:spcPts val="100"/>
              </a:spcBef>
              <a:spcAft>
                <a:spcPts val="100"/>
              </a:spcAft>
              <a:defRPr sz="1300" b="0">
                <a:solidFill>
                  <a:srgbClr val="2A2A2A"/>
                </a:solidFill>
                <a:latin typeface="Calibri"/>
              </a:defRPr>
            </a:pPr>
          </a:p>
          <a:p>
            <a:pPr algn="l">
              <a:spcBef>
                <a:spcPts val="100"/>
              </a:spcBef>
              <a:spcAft>
                <a:spcPts val="100"/>
              </a:spcAft>
              <a:defRPr sz="1400" b="0">
                <a:solidFill>
                  <a:srgbClr val="2A2A2A"/>
                </a:solidFill>
                <a:latin typeface="Calibri"/>
              </a:defRPr>
            </a:pPr>
            <a:r>
              <a:t>Using ANOVA, Multiple Regression, Generalized Linear Models, and Bayesian statistics, we found:</a:t>
            </a:r>
          </a:p>
          <a:p>
            <a:pPr algn="l">
              <a:spcBef>
                <a:spcPts val="100"/>
              </a:spcBef>
              <a:spcAft>
                <a:spcPts val="100"/>
              </a:spcAft>
              <a:defRPr sz="1400" b="0">
                <a:solidFill>
                  <a:srgbClr val="2A2A2A"/>
                </a:solidFill>
                <a:latin typeface="Calibri"/>
              </a:defRPr>
            </a:pPr>
            <a:r>
              <a:t>• Word production differs across categories (p = .009)</a:t>
            </a:r>
          </a:p>
          <a:p>
            <a:pPr algn="l">
              <a:spcBef>
                <a:spcPts val="100"/>
              </a:spcBef>
              <a:spcAft>
                <a:spcPts val="100"/>
              </a:spcAft>
              <a:defRPr sz="1400" b="0">
                <a:solidFill>
                  <a:srgbClr val="2A2A2A"/>
                </a:solidFill>
                <a:latin typeface="Calibri"/>
              </a:defRPr>
            </a:pPr>
            <a:r>
              <a:t>• Hindi proficiency predicts retrieval speed but not word count (ANCOVA p = .007; Bayesian BF₁₀ = 0.091)</a:t>
            </a:r>
          </a:p>
          <a:p>
            <a:pPr algn="l">
              <a:spcBef>
                <a:spcPts val="100"/>
              </a:spcBef>
              <a:spcAft>
                <a:spcPts val="100"/>
              </a:spcAft>
              <a:defRPr sz="1400" b="0">
                <a:solidFill>
                  <a:srgbClr val="2A2A2A"/>
                </a:solidFill>
                <a:latin typeface="Calibri"/>
              </a:defRPr>
            </a:pPr>
            <a:r>
              <a:t>• Spatial distance predicts IRT after controlling for category (β = 0.202, p = .044)</a:t>
            </a:r>
          </a:p>
          <a:p>
            <a:pPr algn="l">
              <a:spcBef>
                <a:spcPts val="100"/>
              </a:spcBef>
              <a:spcAft>
                <a:spcPts val="100"/>
              </a:spcAft>
              <a:defRPr sz="1400" b="0">
                <a:solidFill>
                  <a:srgbClr val="2A2A2A"/>
                </a:solidFill>
                <a:latin typeface="Calibri"/>
              </a:defRPr>
            </a:pPr>
            <a:r>
              <a:t>• Serial position effect: within-cluster acceleration (β = −0.017, p = .002)</a:t>
            </a:r>
          </a:p>
          <a:p>
            <a:pPr algn="l">
              <a:spcBef>
                <a:spcPts val="100"/>
              </a:spcBef>
              <a:spcAft>
                <a:spcPts val="100"/>
              </a:spcAft>
              <a:defRPr sz="1300" b="0">
                <a:solidFill>
                  <a:srgbClr val="2A2A2A"/>
                </a:solidFill>
                <a:latin typeface="Calibri"/>
              </a:defRPr>
            </a:pPr>
          </a:p>
          <a:p>
            <a:pPr algn="l">
              <a:spcBef>
                <a:spcPts val="100"/>
              </a:spcBef>
              <a:spcAft>
                <a:spcPts val="100"/>
              </a:spcAft>
              <a:defRPr sz="1400" b="0">
                <a:solidFill>
                  <a:srgbClr val="2A2A2A"/>
                </a:solidFill>
                <a:latin typeface="Calibri"/>
              </a:defRPr>
            </a:pPr>
            <a:r>
              <a:t>These findings highlight how choosing the right statistical methods can reveal effects that simpler analyses miss.</a:t>
            </a:r>
          </a:p>
        </p:txBody>
      </p:sp>
      <p:sp>
        <p:nvSpPr>
          <p:cNvPr id="9" name="Rectangle 8"/>
          <p:cNvSpPr/>
          <p:nvPr/>
        </p:nvSpPr>
        <p:spPr>
          <a:xfrm>
            <a:off x="320040" y="6839712"/>
            <a:ext cx="7200900" cy="457200"/>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 y="6876288"/>
            <a:ext cx="6981444" cy="411480"/>
          </a:xfrm>
          <a:prstGeom prst="rect">
            <a:avLst/>
          </a:prstGeom>
          <a:noFill/>
        </p:spPr>
        <p:txBody>
          <a:bodyPr wrap="square">
            <a:spAutoFit/>
          </a:bodyPr>
          <a:lstStyle/>
          <a:p>
            <a:pPr algn="l">
              <a:defRPr sz="2000" b="1" i="0">
                <a:solidFill>
                  <a:srgbClr val="FFFFFF"/>
                </a:solidFill>
                <a:latin typeface="Arial"/>
              </a:defRPr>
            </a:pPr>
            <a:r>
              <a:t>METHODOLOGY</a:t>
            </a:r>
          </a:p>
        </p:txBody>
      </p:sp>
      <p:sp>
        <p:nvSpPr>
          <p:cNvPr id="11" name="TextBox 10"/>
          <p:cNvSpPr txBox="1"/>
          <p:nvPr/>
        </p:nvSpPr>
        <p:spPr>
          <a:xfrm>
            <a:off x="320040" y="7370064"/>
            <a:ext cx="7200900" cy="3200400"/>
          </a:xfrm>
          <a:prstGeom prst="rect">
            <a:avLst/>
          </a:prstGeom>
          <a:noFill/>
        </p:spPr>
        <p:txBody>
          <a:bodyPr wrap="square">
            <a:spAutoFit/>
          </a:bodyPr>
          <a:lstStyle/>
          <a:p>
            <a:pPr algn="l">
              <a:spcBef>
                <a:spcPts val="100"/>
              </a:spcBef>
              <a:spcAft>
                <a:spcPts val="100"/>
              </a:spcAft>
              <a:defRPr sz="1400" b="0">
                <a:solidFill>
                  <a:srgbClr val="2A2A2A"/>
                </a:solidFill>
                <a:latin typeface="Calibri"/>
              </a:defRPr>
            </a:pPr>
            <a:r>
              <a:t>Data: N = 35 participants; 4 categories; 1,044 word responses; 1,040 SpAM placements. Tasks administered online via jsPsych.</a:t>
            </a:r>
          </a:p>
          <a:p>
            <a:pPr algn="l">
              <a:spcBef>
                <a:spcPts val="100"/>
              </a:spcBef>
              <a:spcAft>
                <a:spcPts val="100"/>
              </a:spcAft>
              <a:defRPr sz="1300" b="0">
                <a:solidFill>
                  <a:srgbClr val="2A2A2A"/>
                </a:solidFill>
                <a:latin typeface="Calibri"/>
              </a:defRPr>
            </a:pPr>
          </a:p>
          <a:p>
            <a:pPr algn="l">
              <a:spcBef>
                <a:spcPts val="100"/>
              </a:spcBef>
              <a:spcAft>
                <a:spcPts val="100"/>
              </a:spcAft>
              <a:defRPr sz="1400" b="0">
                <a:solidFill>
                  <a:srgbClr val="2A2A2A"/>
                </a:solidFill>
                <a:latin typeface="Calibri"/>
              </a:defRPr>
            </a:pPr>
            <a:r>
              <a:t>Preprocessing: Extracted VFT (words + IRT) and SpAM (x,y coordinates) from JSON. Computed pairwise distances, consecutive word distances, log-transformed IRT, and Hindi proficiency composites (average of reading &amp; writing ratings).</a:t>
            </a:r>
          </a:p>
          <a:p>
            <a:pPr algn="l">
              <a:spcBef>
                <a:spcPts val="100"/>
              </a:spcBef>
              <a:spcAft>
                <a:spcPts val="100"/>
              </a:spcAft>
              <a:defRPr sz="1300" b="0">
                <a:solidFill>
                  <a:srgbClr val="2A2A2A"/>
                </a:solidFill>
                <a:latin typeface="Calibri"/>
              </a:defRPr>
            </a:pPr>
          </a:p>
          <a:p>
            <a:pPr algn="l">
              <a:spcBef>
                <a:spcPts val="100"/>
              </a:spcBef>
              <a:spcAft>
                <a:spcPts val="100"/>
              </a:spcAft>
              <a:defRPr sz="1400" b="0">
                <a:solidFill>
                  <a:srgbClr val="2A2A2A"/>
                </a:solidFill>
                <a:latin typeface="Calibri"/>
              </a:defRPr>
            </a:pPr>
            <a:r>
              <a:t>Significance level: α = 0.05 for all tests. Tools: Python (scipy, statsmodels, pingouin).</a:t>
            </a:r>
          </a:p>
        </p:txBody>
      </p:sp>
      <p:pic>
        <p:nvPicPr>
          <p:cNvPr id="12" name="Picture 11" descr="methodology_pipeline.png"/>
          <p:cNvPicPr>
            <a:picLocks noChangeAspect="1"/>
          </p:cNvPicPr>
          <p:nvPr/>
        </p:nvPicPr>
        <p:blipFill>
          <a:blip r:embed="rId2"/>
          <a:stretch>
            <a:fillRect/>
          </a:stretch>
        </p:blipFill>
        <p:spPr>
          <a:xfrm>
            <a:off x="457200" y="10387584"/>
            <a:ext cx="6926580" cy="9837820"/>
          </a:xfrm>
          <a:prstGeom prst="rect">
            <a:avLst/>
          </a:prstGeom>
        </p:spPr>
      </p:pic>
      <p:sp>
        <p:nvSpPr>
          <p:cNvPr id="13" name="Rectangle 12"/>
          <p:cNvSpPr/>
          <p:nvPr/>
        </p:nvSpPr>
        <p:spPr>
          <a:xfrm>
            <a:off x="7795260" y="1828800"/>
            <a:ext cx="14676120" cy="457200"/>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4988" y="1865376"/>
            <a:ext cx="14456664" cy="411480"/>
          </a:xfrm>
          <a:prstGeom prst="rect">
            <a:avLst/>
          </a:prstGeom>
          <a:noFill/>
        </p:spPr>
        <p:txBody>
          <a:bodyPr wrap="square">
            <a:spAutoFit/>
          </a:bodyPr>
          <a:lstStyle/>
          <a:p>
            <a:pPr algn="l">
              <a:defRPr sz="2000" b="1" i="0">
                <a:solidFill>
                  <a:srgbClr val="FFFFFF"/>
                </a:solidFill>
                <a:latin typeface="Arial"/>
              </a:defRPr>
            </a:pPr>
            <a:r>
              <a:t>RESULTS</a:t>
            </a:r>
          </a:p>
        </p:txBody>
      </p:sp>
      <p:sp>
        <p:nvSpPr>
          <p:cNvPr id="15" name="TextBox 14"/>
          <p:cNvSpPr txBox="1"/>
          <p:nvPr/>
        </p:nvSpPr>
        <p:spPr>
          <a:xfrm>
            <a:off x="7795260" y="2359152"/>
            <a:ext cx="7200900" cy="2377440"/>
          </a:xfrm>
          <a:prstGeom prst="rect">
            <a:avLst/>
          </a:prstGeom>
          <a:noFill/>
        </p:spPr>
        <p:txBody>
          <a:bodyPr wrap="square">
            <a:spAutoFit/>
          </a:bodyPr>
          <a:lstStyle/>
          <a:p>
            <a:pPr algn="l">
              <a:spcBef>
                <a:spcPts val="100"/>
              </a:spcBef>
              <a:spcAft>
                <a:spcPts val="100"/>
              </a:spcAft>
              <a:defRPr sz="1500" b="1">
                <a:solidFill>
                  <a:srgbClr val="2A2A2A"/>
                </a:solidFill>
                <a:latin typeface="Calibri"/>
              </a:defRPr>
            </a:pPr>
            <a:r>
              <a:t>1. ANOVA — Word Production Across Categories</a:t>
            </a:r>
          </a:p>
          <a:p>
            <a:pPr algn="l">
              <a:spcBef>
                <a:spcPts val="100"/>
              </a:spcBef>
              <a:spcAft>
                <a:spcPts val="100"/>
              </a:spcAft>
              <a:defRPr sz="1200" b="0">
                <a:solidFill>
                  <a:srgbClr val="2A2A2A"/>
                </a:solidFill>
                <a:latin typeface="Calibri"/>
              </a:defRPr>
            </a:pPr>
          </a:p>
          <a:p>
            <a:pPr algn="l">
              <a:spcBef>
                <a:spcPts val="100"/>
              </a:spcBef>
              <a:spcAft>
                <a:spcPts val="100"/>
              </a:spcAft>
              <a:defRPr sz="1400" b="1">
                <a:solidFill>
                  <a:srgbClr val="2A2A2A"/>
                </a:solidFill>
                <a:latin typeface="Calibri"/>
              </a:defRPr>
            </a:pPr>
            <a:r>
              <a:t>One-Way ANOVA: F(3,101) = 4.05, p = .009, η² = .107 (medium effect)</a:t>
            </a:r>
          </a:p>
          <a:p>
            <a:pPr algn="l">
              <a:spcBef>
                <a:spcPts val="100"/>
              </a:spcBef>
              <a:spcAft>
                <a:spcPts val="100"/>
              </a:spcAft>
              <a:defRPr sz="1300" b="0">
                <a:solidFill>
                  <a:srgbClr val="2A2A2A"/>
                </a:solidFill>
                <a:latin typeface="Calibri"/>
              </a:defRPr>
            </a:pPr>
            <a:r>
              <a:t>• Colours (M=13.4) &gt; Body Parts (M=8.6): p = .008, Hedges' g = 1.47</a:t>
            </a:r>
          </a:p>
          <a:p>
            <a:pPr algn="l">
              <a:spcBef>
                <a:spcPts val="100"/>
              </a:spcBef>
              <a:spcAft>
                <a:spcPts val="100"/>
              </a:spcAft>
              <a:defRPr sz="1300" b="0">
                <a:solidFill>
                  <a:srgbClr val="2A2A2A"/>
                </a:solidFill>
                <a:latin typeface="Calibri"/>
              </a:defRPr>
            </a:pPr>
            <a:r>
              <a:t>• Colours (M=13.4) &gt; Foods (M=9.3): p = .022, Hedges' g = 1.01</a:t>
            </a:r>
          </a:p>
          <a:p>
            <a:pPr algn="l">
              <a:spcBef>
                <a:spcPts val="100"/>
              </a:spcBef>
              <a:spcAft>
                <a:spcPts val="100"/>
              </a:spcAft>
              <a:defRPr sz="1300" b="0">
                <a:solidFill>
                  <a:srgbClr val="2A2A2A"/>
                </a:solidFill>
                <a:latin typeface="Calibri"/>
              </a:defRPr>
            </a:pPr>
            <a:r>
              <a:t>• Welch's ANOVA: F(3,39.6) = 5.44, p = .003</a:t>
            </a:r>
          </a:p>
          <a:p>
            <a:pPr algn="l">
              <a:spcBef>
                <a:spcPts val="100"/>
              </a:spcBef>
              <a:spcAft>
                <a:spcPts val="100"/>
              </a:spcAft>
              <a:defRPr sz="1300" b="0">
                <a:solidFill>
                  <a:srgbClr val="2A2A2A"/>
                </a:solidFill>
                <a:latin typeface="Calibri"/>
              </a:defRPr>
            </a:pPr>
            <a:r>
              <a:t>• Kruskal-Wallis (non-parametric): H = 13.10, p = .004</a:t>
            </a:r>
          </a:p>
          <a:p>
            <a:pPr algn="l">
              <a:spcBef>
                <a:spcPts val="100"/>
              </a:spcBef>
              <a:spcAft>
                <a:spcPts val="100"/>
              </a:spcAft>
              <a:defRPr sz="1300" b="0">
                <a:solidFill>
                  <a:srgbClr val="2A2A2A"/>
                </a:solidFill>
                <a:latin typeface="Calibri"/>
              </a:defRPr>
            </a:pPr>
            <a:r>
              <a:t>Colours is a smaller, bounded category allowing near-exhaustive retrieval.</a:t>
            </a:r>
          </a:p>
        </p:txBody>
      </p:sp>
      <p:pic>
        <p:nvPicPr>
          <p:cNvPr id="16" name="Picture 15" descr="anova_word_production.png"/>
          <p:cNvPicPr>
            <a:picLocks noChangeAspect="1"/>
          </p:cNvPicPr>
          <p:nvPr/>
        </p:nvPicPr>
        <p:blipFill>
          <a:blip r:embed="rId3"/>
          <a:stretch>
            <a:fillRect/>
          </a:stretch>
        </p:blipFill>
        <p:spPr>
          <a:xfrm>
            <a:off x="7932420" y="4919472"/>
            <a:ext cx="6926580" cy="2922777"/>
          </a:xfrm>
          <a:prstGeom prst="rect">
            <a:avLst/>
          </a:prstGeom>
        </p:spPr>
      </p:pic>
      <p:sp>
        <p:nvSpPr>
          <p:cNvPr id="17" name="TextBox 16"/>
          <p:cNvSpPr txBox="1"/>
          <p:nvPr/>
        </p:nvSpPr>
        <p:spPr>
          <a:xfrm>
            <a:off x="7795260" y="8074152"/>
            <a:ext cx="7200900" cy="2560320"/>
          </a:xfrm>
          <a:prstGeom prst="rect">
            <a:avLst/>
          </a:prstGeom>
          <a:noFill/>
        </p:spPr>
        <p:txBody>
          <a:bodyPr wrap="square">
            <a:spAutoFit/>
          </a:bodyPr>
          <a:lstStyle/>
          <a:p>
            <a:pPr algn="l">
              <a:spcBef>
                <a:spcPts val="100"/>
              </a:spcBef>
              <a:spcAft>
                <a:spcPts val="100"/>
              </a:spcAft>
              <a:defRPr sz="1500" b="1">
                <a:solidFill>
                  <a:srgbClr val="2A2A2A"/>
                </a:solidFill>
                <a:latin typeface="Calibri"/>
              </a:defRPr>
            </a:pPr>
            <a:r>
              <a:t>2. ANCOVA — Proficiency Effect Recovered</a:t>
            </a:r>
          </a:p>
          <a:p>
            <a:pPr algn="l">
              <a:spcBef>
                <a:spcPts val="100"/>
              </a:spcBef>
              <a:spcAft>
                <a:spcPts val="100"/>
              </a:spcAft>
              <a:defRPr sz="1200" b="0">
                <a:solidFill>
                  <a:srgbClr val="2A2A2A"/>
                </a:solidFill>
                <a:latin typeface="Calibri"/>
              </a:defRPr>
            </a:pPr>
          </a:p>
          <a:p>
            <a:pPr algn="l">
              <a:spcBef>
                <a:spcPts val="100"/>
              </a:spcBef>
              <a:spcAft>
                <a:spcPts val="100"/>
              </a:spcAft>
              <a:defRPr sz="1300" b="0">
                <a:solidFill>
                  <a:srgbClr val="2A2A2A"/>
                </a:solidFill>
                <a:latin typeface="Calibri"/>
              </a:defRPr>
            </a:pPr>
            <a:r>
              <a:t>Report 1 found proficiency → IRT was NOT significant (p = .060).</a:t>
            </a:r>
          </a:p>
          <a:p>
            <a:pPr algn="l">
              <a:spcBef>
                <a:spcPts val="100"/>
              </a:spcBef>
              <a:spcAft>
                <a:spcPts val="100"/>
              </a:spcAft>
              <a:defRPr sz="1300" b="0">
                <a:solidFill>
                  <a:srgbClr val="2A2A2A"/>
                </a:solidFill>
                <a:latin typeface="Calibri"/>
              </a:defRPr>
            </a:pPr>
            <a:r>
              <a:t>ANCOVA keeps proficiency as a continuous variable (not dichotomized):</a:t>
            </a:r>
          </a:p>
          <a:p>
            <a:pPr algn="l">
              <a:spcBef>
                <a:spcPts val="100"/>
              </a:spcBef>
              <a:spcAft>
                <a:spcPts val="100"/>
              </a:spcAft>
              <a:defRPr sz="1400" b="0">
                <a:solidFill>
                  <a:srgbClr val="2A2A2A"/>
                </a:solidFill>
                <a:latin typeface="Calibri"/>
              </a:defRPr>
            </a:pPr>
            <a:r>
              <a:t>• Category: F(3,100) = 3.28, p = .024, η² = .090</a:t>
            </a:r>
          </a:p>
          <a:p>
            <a:pPr algn="l">
              <a:spcBef>
                <a:spcPts val="100"/>
              </a:spcBef>
              <a:spcAft>
                <a:spcPts val="100"/>
              </a:spcAft>
              <a:defRPr sz="1400" b="1">
                <a:solidFill>
                  <a:srgbClr val="2A2A2A"/>
                </a:solidFill>
                <a:latin typeface="Calibri"/>
              </a:defRPr>
            </a:pPr>
            <a:r>
              <a:t>• Hindi Proficiency: F(1,100) = 7.60, p = .007, η² = .071</a:t>
            </a:r>
          </a:p>
          <a:p>
            <a:pPr algn="l">
              <a:spcBef>
                <a:spcPts val="100"/>
              </a:spcBef>
              <a:spcAft>
                <a:spcPts val="100"/>
              </a:spcAft>
              <a:defRPr sz="1200" b="0">
                <a:solidFill>
                  <a:srgbClr val="2A2A2A"/>
                </a:solidFill>
                <a:latin typeface="Calibri"/>
              </a:defRPr>
            </a:pPr>
          </a:p>
          <a:p>
            <a:pPr algn="l">
              <a:spcBef>
                <a:spcPts val="100"/>
              </a:spcBef>
              <a:spcAft>
                <a:spcPts val="100"/>
              </a:spcAft>
              <a:defRPr sz="1300" b="0">
                <a:solidFill>
                  <a:srgbClr val="2A2A2A"/>
                </a:solidFill>
                <a:latin typeface="Calibri"/>
              </a:defRPr>
            </a:pPr>
            <a:r>
              <a:t>Higher proficiency → faster retrieval. Category-level variance was hiding this effect in Report 1.</a:t>
            </a:r>
          </a:p>
        </p:txBody>
      </p:sp>
      <p:sp>
        <p:nvSpPr>
          <p:cNvPr id="18" name="TextBox 17"/>
          <p:cNvSpPr txBox="1"/>
          <p:nvPr/>
        </p:nvSpPr>
        <p:spPr>
          <a:xfrm>
            <a:off x="7795260" y="10725912"/>
            <a:ext cx="7200900" cy="2560320"/>
          </a:xfrm>
          <a:prstGeom prst="rect">
            <a:avLst/>
          </a:prstGeom>
          <a:noFill/>
        </p:spPr>
        <p:txBody>
          <a:bodyPr wrap="square">
            <a:spAutoFit/>
          </a:bodyPr>
          <a:lstStyle/>
          <a:p>
            <a:pPr algn="l">
              <a:spcBef>
                <a:spcPts val="100"/>
              </a:spcBef>
              <a:spcAft>
                <a:spcPts val="100"/>
              </a:spcAft>
              <a:defRPr sz="1500" b="1">
                <a:solidFill>
                  <a:srgbClr val="2A2A2A"/>
                </a:solidFill>
                <a:latin typeface="Calibri"/>
              </a:defRPr>
            </a:pPr>
            <a:r>
              <a:t>3. Regression — Spatial Distance Predicts IRT</a:t>
            </a:r>
          </a:p>
          <a:p>
            <a:pPr algn="l">
              <a:spcBef>
                <a:spcPts val="100"/>
              </a:spcBef>
              <a:spcAft>
                <a:spcPts val="100"/>
              </a:spcAft>
              <a:defRPr sz="1200" b="0">
                <a:solidFill>
                  <a:srgbClr val="2A2A2A"/>
                </a:solidFill>
                <a:latin typeface="Calibri"/>
              </a:defRPr>
            </a:pPr>
          </a:p>
          <a:p>
            <a:pPr algn="l">
              <a:spcBef>
                <a:spcPts val="100"/>
              </a:spcBef>
              <a:spcAft>
                <a:spcPts val="100"/>
              </a:spcAft>
              <a:defRPr sz="1300" b="0">
                <a:solidFill>
                  <a:srgbClr val="2A2A2A"/>
                </a:solidFill>
                <a:latin typeface="Calibri"/>
              </a:defRPr>
            </a:pPr>
            <a:r>
              <a:t>Simple regression (no controls): β = 0.031, p = .750 (NOT significant)</a:t>
            </a:r>
          </a:p>
          <a:p>
            <a:pPr algn="l">
              <a:spcBef>
                <a:spcPts val="100"/>
              </a:spcBef>
              <a:spcAft>
                <a:spcPts val="100"/>
              </a:spcAft>
              <a:defRPr sz="1300" b="1">
                <a:solidFill>
                  <a:srgbClr val="2A2A2A"/>
                </a:solidFill>
                <a:latin typeface="Calibri"/>
              </a:defRPr>
            </a:pPr>
            <a:r>
              <a:t>After controlling for category:</a:t>
            </a:r>
          </a:p>
          <a:p>
            <a:pPr algn="l">
              <a:spcBef>
                <a:spcPts val="100"/>
              </a:spcBef>
              <a:spcAft>
                <a:spcPts val="100"/>
              </a:spcAft>
              <a:defRPr sz="1400" b="1">
                <a:solidFill>
                  <a:srgbClr val="2A2A2A"/>
                </a:solidFill>
                <a:latin typeface="Calibri"/>
              </a:defRPr>
            </a:pPr>
            <a:r>
              <a:t>    β = 0.202, p = .044 (SIGNIFICANT)</a:t>
            </a:r>
          </a:p>
          <a:p>
            <a:pPr algn="l">
              <a:spcBef>
                <a:spcPts val="100"/>
              </a:spcBef>
              <a:spcAft>
                <a:spcPts val="100"/>
              </a:spcAft>
              <a:defRPr sz="1300" b="0">
                <a:solidFill>
                  <a:srgbClr val="2A2A2A"/>
                </a:solidFill>
                <a:latin typeface="Calibri"/>
              </a:defRPr>
            </a:pPr>
            <a:r>
              <a:t>Adding serial position: β_dist = 0.225, p = .025; β_order = −0.017, p = .002</a:t>
            </a:r>
          </a:p>
          <a:p>
            <a:pPr algn="l">
              <a:spcBef>
                <a:spcPts val="100"/>
              </a:spcBef>
              <a:spcAft>
                <a:spcPts val="100"/>
              </a:spcAft>
              <a:defRPr sz="1300" b="0">
                <a:solidFill>
                  <a:srgbClr val="2A2A2A"/>
                </a:solidFill>
                <a:latin typeface="Calibri"/>
              </a:defRPr>
            </a:pPr>
            <a:r>
              <a:t>Model comparison: F(4) = 12.35, p &lt; .001</a:t>
            </a:r>
          </a:p>
          <a:p>
            <a:pPr algn="l">
              <a:spcBef>
                <a:spcPts val="100"/>
              </a:spcBef>
              <a:spcAft>
                <a:spcPts val="100"/>
              </a:spcAft>
              <a:defRPr sz="1300" b="0">
                <a:solidFill>
                  <a:srgbClr val="2A2A2A"/>
                </a:solidFill>
                <a:latin typeface="Calibri"/>
              </a:defRPr>
            </a:pPr>
            <a:r>
              <a:t>→ Category was a confounding variable masking the real effect.</a:t>
            </a:r>
          </a:p>
        </p:txBody>
      </p:sp>
      <p:pic>
        <p:nvPicPr>
          <p:cNvPr id="19" name="Picture 18" descr="regression_diagnostics.png"/>
          <p:cNvPicPr>
            <a:picLocks noChangeAspect="1"/>
          </p:cNvPicPr>
          <p:nvPr/>
        </p:nvPicPr>
        <p:blipFill>
          <a:blip r:embed="rId4"/>
          <a:stretch>
            <a:fillRect/>
          </a:stretch>
        </p:blipFill>
        <p:spPr>
          <a:xfrm>
            <a:off x="7932420" y="13286232"/>
            <a:ext cx="6926580" cy="4924678"/>
          </a:xfrm>
          <a:prstGeom prst="rect">
            <a:avLst/>
          </a:prstGeom>
        </p:spPr>
      </p:pic>
      <p:sp>
        <p:nvSpPr>
          <p:cNvPr id="20" name="TextBox 19"/>
          <p:cNvSpPr txBox="1"/>
          <p:nvPr/>
        </p:nvSpPr>
        <p:spPr>
          <a:xfrm>
            <a:off x="15270480" y="2359152"/>
            <a:ext cx="7200900" cy="3840480"/>
          </a:xfrm>
          <a:prstGeom prst="rect">
            <a:avLst/>
          </a:prstGeom>
          <a:noFill/>
        </p:spPr>
        <p:txBody>
          <a:bodyPr wrap="square">
            <a:spAutoFit/>
          </a:bodyPr>
          <a:lstStyle/>
          <a:p>
            <a:pPr algn="l">
              <a:spcBef>
                <a:spcPts val="100"/>
              </a:spcBef>
              <a:spcAft>
                <a:spcPts val="100"/>
              </a:spcAft>
              <a:defRPr sz="1500" b="1">
                <a:solidFill>
                  <a:srgbClr val="2A2A2A"/>
                </a:solidFill>
                <a:latin typeface="Calibri"/>
              </a:defRPr>
            </a:pPr>
            <a:r>
              <a:t>4. Generalized Linear Models</a:t>
            </a:r>
          </a:p>
          <a:p>
            <a:pPr algn="l">
              <a:spcBef>
                <a:spcPts val="100"/>
              </a:spcBef>
              <a:spcAft>
                <a:spcPts val="100"/>
              </a:spcAft>
              <a:defRPr sz="1200" b="0">
                <a:solidFill>
                  <a:srgbClr val="2A2A2A"/>
                </a:solidFill>
                <a:latin typeface="Calibri"/>
              </a:defRPr>
            </a:pPr>
          </a:p>
          <a:p>
            <a:pPr algn="l">
              <a:spcBef>
                <a:spcPts val="100"/>
              </a:spcBef>
              <a:spcAft>
                <a:spcPts val="100"/>
              </a:spcAft>
              <a:defRPr sz="1300" b="1">
                <a:solidFill>
                  <a:srgbClr val="2A2A2A"/>
                </a:solidFill>
                <a:latin typeface="Calibri"/>
              </a:defRPr>
            </a:pPr>
            <a:r>
              <a:t>Poisson GLM (word counts are integers, not continuous):</a:t>
            </a:r>
          </a:p>
          <a:p>
            <a:pPr algn="l">
              <a:spcBef>
                <a:spcPts val="100"/>
              </a:spcBef>
              <a:spcAft>
                <a:spcPts val="100"/>
              </a:spcAft>
              <a:defRPr sz="1300" b="0">
                <a:solidFill>
                  <a:srgbClr val="2A2A2A"/>
                </a:solidFill>
                <a:latin typeface="Calibri"/>
              </a:defRPr>
            </a:pPr>
            <a:r>
              <a:t>• Colours: 28% more words than Animals (p &lt; .001)</a:t>
            </a:r>
          </a:p>
          <a:p>
            <a:pPr algn="l">
              <a:spcBef>
                <a:spcPts val="100"/>
              </a:spcBef>
              <a:spcAft>
                <a:spcPts val="100"/>
              </a:spcAft>
              <a:defRPr sz="1300" b="0">
                <a:solidFill>
                  <a:srgbClr val="2A2A2A"/>
                </a:solidFill>
                <a:latin typeface="Calibri"/>
              </a:defRPr>
            </a:pPr>
            <a:r>
              <a:t>• Body Parts: 19% fewer words than Animals (p &lt; .001)</a:t>
            </a:r>
          </a:p>
          <a:p>
            <a:pPr algn="l">
              <a:spcBef>
                <a:spcPts val="100"/>
              </a:spcBef>
              <a:spcAft>
                <a:spcPts val="100"/>
              </a:spcAft>
              <a:defRPr sz="1300" b="0">
                <a:solidFill>
                  <a:srgbClr val="2A2A2A"/>
                </a:solidFill>
                <a:latin typeface="Calibri"/>
              </a:defRPr>
            </a:pPr>
            <a:r>
              <a:t>• Mild overdispersion (φ = 1.61); Neg. Binomial gave same results.</a:t>
            </a:r>
          </a:p>
          <a:p>
            <a:pPr algn="l">
              <a:spcBef>
                <a:spcPts val="100"/>
              </a:spcBef>
              <a:spcAft>
                <a:spcPts val="100"/>
              </a:spcAft>
              <a:defRPr sz="1200" b="0">
                <a:solidFill>
                  <a:srgbClr val="2A2A2A"/>
                </a:solidFill>
                <a:latin typeface="Calibri"/>
              </a:defRPr>
            </a:pPr>
          </a:p>
          <a:p>
            <a:pPr algn="l">
              <a:spcBef>
                <a:spcPts val="100"/>
              </a:spcBef>
              <a:spcAft>
                <a:spcPts val="100"/>
              </a:spcAft>
              <a:defRPr sz="1300" b="1">
                <a:solidFill>
                  <a:srgbClr val="2A2A2A"/>
                </a:solidFill>
                <a:latin typeface="Calibri"/>
              </a:defRPr>
            </a:pPr>
            <a:r>
              <a:t>Gamma GLM (IRT is always positive &amp; right-skewed):</a:t>
            </a:r>
          </a:p>
          <a:p>
            <a:pPr algn="l">
              <a:spcBef>
                <a:spcPts val="100"/>
              </a:spcBef>
              <a:spcAft>
                <a:spcPts val="100"/>
              </a:spcAft>
              <a:defRPr sz="1400" b="1">
                <a:solidFill>
                  <a:srgbClr val="2A2A2A"/>
                </a:solidFill>
                <a:latin typeface="Calibri"/>
              </a:defRPr>
            </a:pPr>
            <a:r>
              <a:t>• Hindi Proficiency: β = −0.091, p = .025</a:t>
            </a:r>
          </a:p>
          <a:p>
            <a:pPr algn="l">
              <a:spcBef>
                <a:spcPts val="100"/>
              </a:spcBef>
              <a:spcAft>
                <a:spcPts val="100"/>
              </a:spcAft>
              <a:defRPr sz="1300" b="0">
                <a:solidFill>
                  <a:srgbClr val="2A2A2A"/>
                </a:solidFill>
                <a:latin typeface="Calibri"/>
              </a:defRPr>
            </a:pPr>
            <a:r>
              <a:t>    Each 1-point increase → 8.7% faster retrieval</a:t>
            </a:r>
          </a:p>
          <a:p>
            <a:pPr algn="l">
              <a:spcBef>
                <a:spcPts val="100"/>
              </a:spcBef>
              <a:spcAft>
                <a:spcPts val="100"/>
              </a:spcAft>
              <a:defRPr sz="1300" b="0">
                <a:solidFill>
                  <a:srgbClr val="2A2A2A"/>
                </a:solidFill>
                <a:latin typeface="Calibri"/>
              </a:defRPr>
            </a:pPr>
            <a:r>
              <a:t>• Total Words: β = −0.027, p = .045 (more fluent = faster)</a:t>
            </a:r>
          </a:p>
          <a:p>
            <a:pPr algn="l">
              <a:spcBef>
                <a:spcPts val="100"/>
              </a:spcBef>
              <a:spcAft>
                <a:spcPts val="100"/>
              </a:spcAft>
              <a:defRPr sz="1300" b="0">
                <a:solidFill>
                  <a:srgbClr val="2A2A2A"/>
                </a:solidFill>
                <a:latin typeface="Calibri"/>
              </a:defRPr>
            </a:pPr>
            <a:r>
              <a:t>• Colours domain: 29% faster than Animals (p = .007)</a:t>
            </a:r>
          </a:p>
          <a:p>
            <a:pPr algn="l">
              <a:spcBef>
                <a:spcPts val="100"/>
              </a:spcBef>
              <a:spcAft>
                <a:spcPts val="100"/>
              </a:spcAft>
              <a:defRPr sz="1200" b="0">
                <a:solidFill>
                  <a:srgbClr val="2A2A2A"/>
                </a:solidFill>
                <a:latin typeface="Calibri"/>
              </a:defRPr>
            </a:pPr>
          </a:p>
          <a:p>
            <a:pPr algn="l">
              <a:spcBef>
                <a:spcPts val="100"/>
              </a:spcBef>
              <a:spcAft>
                <a:spcPts val="100"/>
              </a:spcAft>
              <a:defRPr sz="1300" b="0">
                <a:solidFill>
                  <a:srgbClr val="2A2A2A"/>
                </a:solidFill>
                <a:latin typeface="Calibri"/>
              </a:defRPr>
            </a:pPr>
            <a:r>
              <a:t>GLMs found effects OLS missed by correctly modeling data distribution.</a:t>
            </a:r>
          </a:p>
        </p:txBody>
      </p:sp>
      <p:pic>
        <p:nvPicPr>
          <p:cNvPr id="21" name="Picture 20" descr="glm_results.png"/>
          <p:cNvPicPr>
            <a:picLocks noChangeAspect="1"/>
          </p:cNvPicPr>
          <p:nvPr/>
        </p:nvPicPr>
        <p:blipFill>
          <a:blip r:embed="rId5"/>
          <a:stretch>
            <a:fillRect/>
          </a:stretch>
        </p:blipFill>
        <p:spPr>
          <a:xfrm>
            <a:off x="15407639" y="6382512"/>
            <a:ext cx="6926580" cy="2922777"/>
          </a:xfrm>
          <a:prstGeom prst="rect">
            <a:avLst/>
          </a:prstGeom>
        </p:spPr>
      </p:pic>
      <p:sp>
        <p:nvSpPr>
          <p:cNvPr id="22" name="TextBox 21"/>
          <p:cNvSpPr txBox="1"/>
          <p:nvPr/>
        </p:nvSpPr>
        <p:spPr>
          <a:xfrm>
            <a:off x="15270480" y="9034272"/>
            <a:ext cx="7200900" cy="1645920"/>
          </a:xfrm>
          <a:prstGeom prst="rect">
            <a:avLst/>
          </a:prstGeom>
          <a:noFill/>
        </p:spPr>
        <p:txBody>
          <a:bodyPr wrap="square">
            <a:spAutoFit/>
          </a:bodyPr>
          <a:lstStyle/>
          <a:p>
            <a:pPr algn="l">
              <a:spcBef>
                <a:spcPts val="100"/>
              </a:spcBef>
              <a:spcAft>
                <a:spcPts val="100"/>
              </a:spcAft>
              <a:defRPr sz="1500" b="1">
                <a:solidFill>
                  <a:srgbClr val="2A2A2A"/>
                </a:solidFill>
                <a:latin typeface="Calibri"/>
              </a:defRPr>
            </a:pPr>
            <a:r>
              <a:t>5. Serial Position Effect</a:t>
            </a:r>
          </a:p>
          <a:p>
            <a:pPr algn="l">
              <a:spcBef>
                <a:spcPts val="100"/>
              </a:spcBef>
              <a:spcAft>
                <a:spcPts val="100"/>
              </a:spcAft>
              <a:defRPr sz="1200" b="0">
                <a:solidFill>
                  <a:srgbClr val="2A2A2A"/>
                </a:solidFill>
                <a:latin typeface="Calibri"/>
              </a:defRPr>
            </a:pPr>
          </a:p>
          <a:p>
            <a:pPr algn="l">
              <a:spcBef>
                <a:spcPts val="100"/>
              </a:spcBef>
              <a:spcAft>
                <a:spcPts val="100"/>
              </a:spcAft>
              <a:defRPr sz="1400" b="1">
                <a:solidFill>
                  <a:srgbClr val="2A2A2A"/>
                </a:solidFill>
                <a:latin typeface="Calibri"/>
              </a:defRPr>
            </a:pPr>
            <a:r>
              <a:t>β = −0.017, t = −3.18, p = .002</a:t>
            </a:r>
          </a:p>
          <a:p>
            <a:pPr algn="l">
              <a:spcBef>
                <a:spcPts val="100"/>
              </a:spcBef>
              <a:spcAft>
                <a:spcPts val="100"/>
              </a:spcAft>
              <a:defRPr sz="1300" b="0">
                <a:solidFill>
                  <a:srgbClr val="2A2A2A"/>
                </a:solidFill>
                <a:latin typeface="Calibri"/>
              </a:defRPr>
            </a:pPr>
            <a:r>
              <a:t>Each position → ~1.7% faster retrieval.</a:t>
            </a:r>
          </a:p>
          <a:p>
            <a:pPr algn="l">
              <a:spcBef>
                <a:spcPts val="100"/>
              </a:spcBef>
              <a:spcAft>
                <a:spcPts val="100"/>
              </a:spcAft>
              <a:defRPr sz="1300" b="0">
                <a:solidFill>
                  <a:srgbClr val="2A2A2A"/>
                </a:solidFill>
                <a:latin typeface="Calibri"/>
              </a:defRPr>
            </a:pPr>
            <a:r>
              <a:t>Pattern: startup → within-cluster acceleration → slowdown at ~position 12.</a:t>
            </a:r>
          </a:p>
        </p:txBody>
      </p:sp>
      <p:pic>
        <p:nvPicPr>
          <p:cNvPr id="23" name="Picture 22" descr="serial_position_effect.png"/>
          <p:cNvPicPr>
            <a:picLocks noChangeAspect="1"/>
          </p:cNvPicPr>
          <p:nvPr/>
        </p:nvPicPr>
        <p:blipFill>
          <a:blip r:embed="rId6"/>
          <a:stretch>
            <a:fillRect/>
          </a:stretch>
        </p:blipFill>
        <p:spPr>
          <a:xfrm>
            <a:off x="15407639" y="10863072"/>
            <a:ext cx="6926580" cy="2922777"/>
          </a:xfrm>
          <a:prstGeom prst="rect">
            <a:avLst/>
          </a:prstGeom>
        </p:spPr>
      </p:pic>
      <p:sp>
        <p:nvSpPr>
          <p:cNvPr id="24" name="TextBox 23"/>
          <p:cNvSpPr txBox="1"/>
          <p:nvPr/>
        </p:nvSpPr>
        <p:spPr>
          <a:xfrm>
            <a:off x="15270480" y="13514832"/>
            <a:ext cx="7200900" cy="3200400"/>
          </a:xfrm>
          <a:prstGeom prst="rect">
            <a:avLst/>
          </a:prstGeom>
          <a:noFill/>
        </p:spPr>
        <p:txBody>
          <a:bodyPr wrap="square">
            <a:spAutoFit/>
          </a:bodyPr>
          <a:lstStyle/>
          <a:p>
            <a:pPr algn="l">
              <a:spcBef>
                <a:spcPts val="100"/>
              </a:spcBef>
              <a:spcAft>
                <a:spcPts val="100"/>
              </a:spcAft>
              <a:defRPr sz="1500" b="1">
                <a:solidFill>
                  <a:srgbClr val="2A2A2A"/>
                </a:solidFill>
                <a:latin typeface="Calibri"/>
              </a:defRPr>
            </a:pPr>
            <a:r>
              <a:t>6. Bayesian Analysis</a:t>
            </a:r>
          </a:p>
          <a:p>
            <a:pPr algn="l">
              <a:spcBef>
                <a:spcPts val="100"/>
              </a:spcBef>
              <a:spcAft>
                <a:spcPts val="100"/>
              </a:spcAft>
              <a:defRPr sz="1200" b="0">
                <a:solidFill>
                  <a:srgbClr val="2A2A2A"/>
                </a:solidFill>
                <a:latin typeface="Calibri"/>
              </a:defRPr>
            </a:pPr>
          </a:p>
          <a:p>
            <a:pPr algn="l">
              <a:spcBef>
                <a:spcPts val="100"/>
              </a:spcBef>
              <a:spcAft>
                <a:spcPts val="100"/>
              </a:spcAft>
              <a:defRPr sz="1300" b="0">
                <a:solidFill>
                  <a:srgbClr val="2A2A2A"/>
                </a:solidFill>
                <a:latin typeface="Calibri"/>
              </a:defRPr>
            </a:pPr>
            <a:r>
              <a:t>• Bayesian t-test (IRT by proficiency group): BF₁₀ = 1.02</a:t>
            </a:r>
          </a:p>
          <a:p>
            <a:pPr algn="l">
              <a:spcBef>
                <a:spcPts val="100"/>
              </a:spcBef>
              <a:spcAft>
                <a:spcPts val="100"/>
              </a:spcAft>
              <a:defRPr sz="1300" b="0">
                <a:solidFill>
                  <a:srgbClr val="2A2A2A"/>
                </a:solidFill>
                <a:latin typeface="Calibri"/>
              </a:defRPr>
            </a:pPr>
            <a:r>
              <a:t>    → Inconclusive with dichotomized groups.</a:t>
            </a:r>
          </a:p>
          <a:p>
            <a:pPr algn="l">
              <a:spcBef>
                <a:spcPts val="100"/>
              </a:spcBef>
              <a:spcAft>
                <a:spcPts val="100"/>
              </a:spcAft>
              <a:defRPr sz="1300" b="0">
                <a:solidFill>
                  <a:srgbClr val="2A2A2A"/>
                </a:solidFill>
                <a:latin typeface="Calibri"/>
              </a:defRPr>
            </a:pPr>
            <a:r>
              <a:t>• Bayesian correlation (spatial dist vs IRT): BF₁₀ = 0.064</a:t>
            </a:r>
          </a:p>
          <a:p>
            <a:pPr algn="l">
              <a:spcBef>
                <a:spcPts val="100"/>
              </a:spcBef>
              <a:spcAft>
                <a:spcPts val="100"/>
              </a:spcAft>
              <a:defRPr sz="1300" b="0">
                <a:solidFill>
                  <a:srgbClr val="2A2A2A"/>
                </a:solidFill>
                <a:latin typeface="Calibri"/>
              </a:defRPr>
            </a:pPr>
            <a:r>
              <a:t>    → Strong evidence for NO simple effect.</a:t>
            </a:r>
          </a:p>
          <a:p>
            <a:pPr algn="l">
              <a:spcBef>
                <a:spcPts val="100"/>
              </a:spcBef>
              <a:spcAft>
                <a:spcPts val="100"/>
              </a:spcAft>
              <a:defRPr sz="1300" b="0">
                <a:solidFill>
                  <a:srgbClr val="2A2A2A"/>
                </a:solidFill>
                <a:latin typeface="Calibri"/>
              </a:defRPr>
            </a:pPr>
            <a:r>
              <a:t>• BIC model comparison (proficiency → word count): BF₁₀ = 0.091</a:t>
            </a:r>
          </a:p>
          <a:p>
            <a:pPr algn="l">
              <a:spcBef>
                <a:spcPts val="100"/>
              </a:spcBef>
              <a:spcAft>
                <a:spcPts val="100"/>
              </a:spcAft>
              <a:defRPr sz="1300" b="0">
                <a:solidFill>
                  <a:srgbClr val="2A2A2A"/>
                </a:solidFill>
                <a:latin typeface="Calibri"/>
              </a:defRPr>
            </a:pPr>
            <a:r>
              <a:t>    → Strong evidence proficiency does NOT predict quantity.</a:t>
            </a:r>
          </a:p>
          <a:p>
            <a:pPr algn="l">
              <a:spcBef>
                <a:spcPts val="100"/>
              </a:spcBef>
              <a:spcAft>
                <a:spcPts val="100"/>
              </a:spcAft>
              <a:defRPr sz="1200" b="0">
                <a:solidFill>
                  <a:srgbClr val="2A2A2A"/>
                </a:solidFill>
                <a:latin typeface="Calibri"/>
              </a:defRPr>
            </a:pPr>
          </a:p>
          <a:p>
            <a:pPr algn="l">
              <a:spcBef>
                <a:spcPts val="100"/>
              </a:spcBef>
              <a:spcAft>
                <a:spcPts val="100"/>
              </a:spcAft>
              <a:defRPr sz="1400" b="1">
                <a:solidFill>
                  <a:srgbClr val="2A2A2A"/>
                </a:solidFill>
                <a:latin typeface="Calibri"/>
              </a:defRPr>
            </a:pPr>
            <a:r>
              <a:t>Takeaway: Proficiency affects SPEED but NOT QUANTITY.</a:t>
            </a:r>
          </a:p>
        </p:txBody>
      </p:sp>
      <p:sp>
        <p:nvSpPr>
          <p:cNvPr id="25" name="Rectangle 24"/>
          <p:cNvSpPr/>
          <p:nvPr/>
        </p:nvSpPr>
        <p:spPr>
          <a:xfrm>
            <a:off x="22745700" y="1828800"/>
            <a:ext cx="7200900" cy="457200"/>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855428" y="1865376"/>
            <a:ext cx="6981444" cy="411480"/>
          </a:xfrm>
          <a:prstGeom prst="rect">
            <a:avLst/>
          </a:prstGeom>
          <a:noFill/>
        </p:spPr>
        <p:txBody>
          <a:bodyPr wrap="square">
            <a:spAutoFit/>
          </a:bodyPr>
          <a:lstStyle/>
          <a:p>
            <a:pPr algn="l">
              <a:defRPr sz="2000" b="1" i="0">
                <a:solidFill>
                  <a:srgbClr val="FFFFFF"/>
                </a:solidFill>
                <a:latin typeface="Arial"/>
              </a:defRPr>
            </a:pPr>
            <a:r>
              <a:t>CONCLUSIONS</a:t>
            </a:r>
          </a:p>
        </p:txBody>
      </p:sp>
      <p:sp>
        <p:nvSpPr>
          <p:cNvPr id="27" name="TextBox 26"/>
          <p:cNvSpPr txBox="1"/>
          <p:nvPr/>
        </p:nvSpPr>
        <p:spPr>
          <a:xfrm>
            <a:off x="22745700" y="2359152"/>
            <a:ext cx="7200900" cy="5943600"/>
          </a:xfrm>
          <a:prstGeom prst="rect">
            <a:avLst/>
          </a:prstGeom>
          <a:noFill/>
        </p:spPr>
        <p:txBody>
          <a:bodyPr wrap="square">
            <a:spAutoFit/>
          </a:bodyPr>
          <a:lstStyle/>
          <a:p>
            <a:pPr algn="l">
              <a:spcBef>
                <a:spcPts val="100"/>
              </a:spcBef>
              <a:spcAft>
                <a:spcPts val="100"/>
              </a:spcAft>
              <a:defRPr sz="1400" b="1">
                <a:solidFill>
                  <a:srgbClr val="2A2A2A"/>
                </a:solidFill>
                <a:latin typeface="Calibri"/>
              </a:defRPr>
            </a:pPr>
            <a:r>
              <a:t>1. Category matters for word production.</a:t>
            </a:r>
          </a:p>
          <a:p>
            <a:pPr algn="l">
              <a:spcBef>
                <a:spcPts val="100"/>
              </a:spcBef>
              <a:spcAft>
                <a:spcPts val="100"/>
              </a:spcAft>
              <a:defRPr sz="1300" b="0">
                <a:solidFill>
                  <a:srgbClr val="2A2A2A"/>
                </a:solidFill>
                <a:latin typeface="Calibri"/>
              </a:defRPr>
            </a:pPr>
            <a:r>
              <a:t>Colours produces significantly more words than Body Parts (p=.008) and Foods (p=.022). Bounded categories allow near-exhaustive retrieval.</a:t>
            </a:r>
          </a:p>
          <a:p>
            <a:pPr algn="l">
              <a:spcBef>
                <a:spcPts val="100"/>
              </a:spcBef>
              <a:spcAft>
                <a:spcPts val="100"/>
              </a:spcAft>
              <a:defRPr sz="1200" b="0">
                <a:solidFill>
                  <a:srgbClr val="2A2A2A"/>
                </a:solidFill>
                <a:latin typeface="Calibri"/>
              </a:defRPr>
            </a:pPr>
          </a:p>
          <a:p>
            <a:pPr algn="l">
              <a:spcBef>
                <a:spcPts val="100"/>
              </a:spcBef>
              <a:spcAft>
                <a:spcPts val="100"/>
              </a:spcAft>
              <a:defRPr sz="1400" b="1">
                <a:solidFill>
                  <a:srgbClr val="2A2A2A"/>
                </a:solidFill>
                <a:latin typeface="Calibri"/>
              </a:defRPr>
            </a:pPr>
            <a:r>
              <a:t>2. Proficiency predicts speed, not quantity.</a:t>
            </a:r>
          </a:p>
          <a:p>
            <a:pPr algn="l">
              <a:spcBef>
                <a:spcPts val="100"/>
              </a:spcBef>
              <a:spcAft>
                <a:spcPts val="100"/>
              </a:spcAft>
              <a:defRPr sz="1300" b="0">
                <a:solidFill>
                  <a:srgbClr val="2A2A2A"/>
                </a:solidFill>
                <a:latin typeface="Calibri"/>
              </a:defRPr>
            </a:pPr>
            <a:r>
              <a:t>ANCOVA (p=.007) and Gamma GLM (p=.025) recovered a proficiency→speed effect that Report 1 missed. Bayesian analysis (BF₁₀=0.091) confirms proficiency does NOT predict word count.</a:t>
            </a:r>
          </a:p>
          <a:p>
            <a:pPr algn="l">
              <a:spcBef>
                <a:spcPts val="100"/>
              </a:spcBef>
              <a:spcAft>
                <a:spcPts val="100"/>
              </a:spcAft>
              <a:defRPr sz="1200" b="0">
                <a:solidFill>
                  <a:srgbClr val="2A2A2A"/>
                </a:solidFill>
                <a:latin typeface="Calibri"/>
              </a:defRPr>
            </a:pPr>
          </a:p>
          <a:p>
            <a:pPr algn="l">
              <a:spcBef>
                <a:spcPts val="100"/>
              </a:spcBef>
              <a:spcAft>
                <a:spcPts val="100"/>
              </a:spcAft>
              <a:defRPr sz="1400" b="1">
                <a:solidFill>
                  <a:srgbClr val="2A2A2A"/>
                </a:solidFill>
                <a:latin typeface="Calibri"/>
              </a:defRPr>
            </a:pPr>
            <a:r>
              <a:t>3. Spatial distance predicts IRT after controls.</a:t>
            </a:r>
          </a:p>
          <a:p>
            <a:pPr algn="l">
              <a:spcBef>
                <a:spcPts val="100"/>
              </a:spcBef>
              <a:spcAft>
                <a:spcPts val="100"/>
              </a:spcAft>
              <a:defRPr sz="1300" b="0">
                <a:solidFill>
                  <a:srgbClr val="2A2A2A"/>
                </a:solidFill>
                <a:latin typeface="Calibri"/>
              </a:defRPr>
            </a:pPr>
            <a:r>
              <a:t>Simple correlation (p=.750) masked a suppression effect. Controlling for category reveals the true relationship (β=0.202, p=.044).</a:t>
            </a:r>
          </a:p>
          <a:p>
            <a:pPr algn="l">
              <a:spcBef>
                <a:spcPts val="100"/>
              </a:spcBef>
              <a:spcAft>
                <a:spcPts val="100"/>
              </a:spcAft>
              <a:defRPr sz="1200" b="0">
                <a:solidFill>
                  <a:srgbClr val="2A2A2A"/>
                </a:solidFill>
                <a:latin typeface="Calibri"/>
              </a:defRPr>
            </a:pPr>
          </a:p>
          <a:p>
            <a:pPr algn="l">
              <a:spcBef>
                <a:spcPts val="100"/>
              </a:spcBef>
              <a:spcAft>
                <a:spcPts val="100"/>
              </a:spcAft>
              <a:defRPr sz="1400" b="1">
                <a:solidFill>
                  <a:srgbClr val="2A2A2A"/>
                </a:solidFill>
                <a:latin typeface="Calibri"/>
              </a:defRPr>
            </a:pPr>
            <a:r>
              <a:t>4. Serial position drives retrieval dynamics.</a:t>
            </a:r>
          </a:p>
          <a:p>
            <a:pPr algn="l">
              <a:spcBef>
                <a:spcPts val="100"/>
              </a:spcBef>
              <a:spcAft>
                <a:spcPts val="100"/>
              </a:spcAft>
              <a:defRPr sz="1300" b="0">
                <a:solidFill>
                  <a:srgbClr val="2A2A2A"/>
                </a:solidFill>
                <a:latin typeface="Calibri"/>
              </a:defRPr>
            </a:pPr>
            <a:r>
              <a:t>Within-cluster acceleration (β=−0.017, p=.002): ~1.7% speedup per position.</a:t>
            </a:r>
          </a:p>
          <a:p>
            <a:pPr algn="l">
              <a:spcBef>
                <a:spcPts val="100"/>
              </a:spcBef>
              <a:spcAft>
                <a:spcPts val="100"/>
              </a:spcAft>
              <a:defRPr sz="1200" b="0">
                <a:solidFill>
                  <a:srgbClr val="2A2A2A"/>
                </a:solidFill>
                <a:latin typeface="Calibri"/>
              </a:defRPr>
            </a:pPr>
          </a:p>
          <a:p>
            <a:pPr algn="l">
              <a:spcBef>
                <a:spcPts val="100"/>
              </a:spcBef>
              <a:spcAft>
                <a:spcPts val="100"/>
              </a:spcAft>
              <a:defRPr sz="1400" b="1">
                <a:solidFill>
                  <a:srgbClr val="2A2A2A"/>
                </a:solidFill>
                <a:latin typeface="Calibri"/>
              </a:defRPr>
            </a:pPr>
            <a:r>
              <a:t>5. Statistical model choice matters.</a:t>
            </a:r>
          </a:p>
          <a:p>
            <a:pPr algn="l">
              <a:spcBef>
                <a:spcPts val="100"/>
              </a:spcBef>
              <a:spcAft>
                <a:spcPts val="100"/>
              </a:spcAft>
              <a:defRPr sz="1300" b="0">
                <a:solidFill>
                  <a:srgbClr val="2A2A2A"/>
                </a:solidFill>
                <a:latin typeface="Calibri"/>
              </a:defRPr>
            </a:pPr>
            <a:r>
              <a:t>Poisson/Gamma GLMs found effects that ordinary regression missed by correctly modeling count data and skewed response times.</a:t>
            </a:r>
          </a:p>
        </p:txBody>
      </p:sp>
      <p:sp>
        <p:nvSpPr>
          <p:cNvPr id="28" name="Rectangle 27"/>
          <p:cNvSpPr/>
          <p:nvPr/>
        </p:nvSpPr>
        <p:spPr>
          <a:xfrm>
            <a:off x="22745700" y="8577072"/>
            <a:ext cx="7200900" cy="457200"/>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855428" y="8613647"/>
            <a:ext cx="6981444" cy="411480"/>
          </a:xfrm>
          <a:prstGeom prst="rect">
            <a:avLst/>
          </a:prstGeom>
          <a:noFill/>
        </p:spPr>
        <p:txBody>
          <a:bodyPr wrap="square">
            <a:spAutoFit/>
          </a:bodyPr>
          <a:lstStyle/>
          <a:p>
            <a:pPr algn="l">
              <a:defRPr sz="2000" b="1" i="0">
                <a:solidFill>
                  <a:srgbClr val="FFFFFF"/>
                </a:solidFill>
                <a:latin typeface="Arial"/>
              </a:defRPr>
            </a:pPr>
            <a:r>
              <a:t>FUTURE WORK</a:t>
            </a:r>
          </a:p>
        </p:txBody>
      </p:sp>
      <p:sp>
        <p:nvSpPr>
          <p:cNvPr id="30" name="TextBox 29"/>
          <p:cNvSpPr txBox="1"/>
          <p:nvPr/>
        </p:nvSpPr>
        <p:spPr>
          <a:xfrm>
            <a:off x="22745700" y="9107424"/>
            <a:ext cx="7200900" cy="2743200"/>
          </a:xfrm>
          <a:prstGeom prst="rect">
            <a:avLst/>
          </a:prstGeom>
          <a:noFill/>
        </p:spPr>
        <p:txBody>
          <a:bodyPr wrap="square">
            <a:spAutoFit/>
          </a:bodyPr>
          <a:lstStyle/>
          <a:p>
            <a:pPr algn="l">
              <a:spcBef>
                <a:spcPts val="100"/>
              </a:spcBef>
              <a:spcAft>
                <a:spcPts val="100"/>
              </a:spcAft>
              <a:defRPr sz="1300" b="0">
                <a:solidFill>
                  <a:srgbClr val="2A2A2A"/>
                </a:solidFill>
                <a:latin typeface="Calibri"/>
              </a:defRPr>
            </a:pPr>
            <a:r>
              <a:t>• Mixed-effects models with random intercepts for participants to handle nested data structure.</a:t>
            </a:r>
          </a:p>
          <a:p>
            <a:pPr algn="l">
              <a:spcBef>
                <a:spcPts val="100"/>
              </a:spcBef>
              <a:spcAft>
                <a:spcPts val="100"/>
              </a:spcAft>
              <a:defRPr sz="1300" b="0">
                <a:solidFill>
                  <a:srgbClr val="2A2A2A"/>
                </a:solidFill>
                <a:latin typeface="Calibri"/>
              </a:defRPr>
            </a:pPr>
            <a:r>
              <a:t>• Automatic cluster detection using DBSCAN on SpAM coordinates.</a:t>
            </a:r>
          </a:p>
          <a:p>
            <a:pPr algn="l">
              <a:spcBef>
                <a:spcPts val="100"/>
              </a:spcBef>
              <a:spcAft>
                <a:spcPts val="100"/>
              </a:spcAft>
              <a:defRPr sz="1300" b="0">
                <a:solidFill>
                  <a:srgbClr val="2A2A2A"/>
                </a:solidFill>
                <a:latin typeface="Calibri"/>
              </a:defRPr>
            </a:pPr>
            <a:r>
              <a:t>• Voice-based testing to remove typing speed confound.</a:t>
            </a:r>
          </a:p>
          <a:p>
            <a:pPr algn="l">
              <a:spcBef>
                <a:spcPts val="100"/>
              </a:spcBef>
              <a:spcAft>
                <a:spcPts val="100"/>
              </a:spcAft>
              <a:defRPr sz="1300" b="0">
                <a:solidFill>
                  <a:srgbClr val="2A2A2A"/>
                </a:solidFill>
                <a:latin typeface="Calibri"/>
              </a:defRPr>
            </a:pPr>
            <a:r>
              <a:t>• Cross-linguistic comparison (Hindi vs English) within the same bilingual participants.</a:t>
            </a:r>
          </a:p>
        </p:txBody>
      </p:sp>
      <p:sp>
        <p:nvSpPr>
          <p:cNvPr id="31" name="Rectangle 30"/>
          <p:cNvSpPr/>
          <p:nvPr/>
        </p:nvSpPr>
        <p:spPr>
          <a:xfrm>
            <a:off x="22745700" y="11484863"/>
            <a:ext cx="7200900" cy="457200"/>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855428" y="11521439"/>
            <a:ext cx="6981444" cy="411480"/>
          </a:xfrm>
          <a:prstGeom prst="rect">
            <a:avLst/>
          </a:prstGeom>
          <a:noFill/>
        </p:spPr>
        <p:txBody>
          <a:bodyPr wrap="square">
            <a:spAutoFit/>
          </a:bodyPr>
          <a:lstStyle/>
          <a:p>
            <a:pPr algn="l">
              <a:defRPr sz="2000" b="1" i="0">
                <a:solidFill>
                  <a:srgbClr val="FFFFFF"/>
                </a:solidFill>
                <a:latin typeface="Arial"/>
              </a:defRPr>
            </a:pPr>
            <a:r>
              <a:t>TEAM CONTRIBUTIONS</a:t>
            </a:r>
          </a:p>
        </p:txBody>
      </p:sp>
      <p:sp>
        <p:nvSpPr>
          <p:cNvPr id="33" name="TextBox 32"/>
          <p:cNvSpPr txBox="1"/>
          <p:nvPr/>
        </p:nvSpPr>
        <p:spPr>
          <a:xfrm>
            <a:off x="22745700" y="12015215"/>
            <a:ext cx="7200900" cy="2743200"/>
          </a:xfrm>
          <a:prstGeom prst="rect">
            <a:avLst/>
          </a:prstGeom>
          <a:noFill/>
        </p:spPr>
        <p:txBody>
          <a:bodyPr wrap="square">
            <a:spAutoFit/>
          </a:bodyPr>
          <a:lstStyle/>
          <a:p>
            <a:pPr algn="l">
              <a:spcBef>
                <a:spcPts val="100"/>
              </a:spcBef>
              <a:spcAft>
                <a:spcPts val="100"/>
              </a:spcAft>
              <a:defRPr sz="1300" b="1">
                <a:solidFill>
                  <a:srgbClr val="2A2A2A"/>
                </a:solidFill>
                <a:latin typeface="Calibri"/>
              </a:defRPr>
            </a:pPr>
            <a:r>
              <a:t>Deban Kumar Shahi (2024201048)</a:t>
            </a:r>
          </a:p>
          <a:p>
            <a:pPr algn="l">
              <a:spcBef>
                <a:spcPts val="100"/>
              </a:spcBef>
              <a:spcAft>
                <a:spcPts val="100"/>
              </a:spcAft>
              <a:defRPr sz="1200" b="0">
                <a:solidFill>
                  <a:srgbClr val="2A2A2A"/>
                </a:solidFill>
                <a:latin typeface="Calibri"/>
              </a:defRPr>
            </a:pPr>
            <a:r>
              <a:t>ANOVA analyses, regression modeling, assumption testing, model diagnostics.</a:t>
            </a:r>
          </a:p>
          <a:p>
            <a:pPr algn="l">
              <a:spcBef>
                <a:spcPts val="100"/>
              </a:spcBef>
              <a:spcAft>
                <a:spcPts val="100"/>
              </a:spcAft>
              <a:defRPr sz="1100" b="0">
                <a:solidFill>
                  <a:srgbClr val="2A2A2A"/>
                </a:solidFill>
                <a:latin typeface="Calibri"/>
              </a:defRPr>
            </a:pPr>
          </a:p>
          <a:p>
            <a:pPr algn="l">
              <a:spcBef>
                <a:spcPts val="100"/>
              </a:spcBef>
              <a:spcAft>
                <a:spcPts val="100"/>
              </a:spcAft>
              <a:defRPr sz="1300" b="1">
                <a:solidFill>
                  <a:srgbClr val="2A2A2A"/>
                </a:solidFill>
                <a:latin typeface="Calibri"/>
              </a:defRPr>
            </a:pPr>
            <a:r>
              <a:t>Md Fraz Uddin (2024201064)</a:t>
            </a:r>
          </a:p>
          <a:p>
            <a:pPr algn="l">
              <a:spcBef>
                <a:spcPts val="100"/>
              </a:spcBef>
              <a:spcAft>
                <a:spcPts val="100"/>
              </a:spcAft>
              <a:defRPr sz="1200" b="0">
                <a:solidFill>
                  <a:srgbClr val="2A2A2A"/>
                </a:solidFill>
                <a:latin typeface="Calibri"/>
              </a:defRPr>
            </a:pPr>
            <a:r>
              <a:t>Python pipeline, figures, GLM &amp; Bayesian analyses, report &amp; poster.</a:t>
            </a:r>
          </a:p>
          <a:p>
            <a:pPr algn="l">
              <a:spcBef>
                <a:spcPts val="100"/>
              </a:spcBef>
              <a:spcAft>
                <a:spcPts val="100"/>
              </a:spcAft>
              <a:defRPr sz="1100" b="0">
                <a:solidFill>
                  <a:srgbClr val="2A2A2A"/>
                </a:solidFill>
                <a:latin typeface="Calibri"/>
              </a:defRPr>
            </a:pPr>
          </a:p>
          <a:p>
            <a:pPr algn="l">
              <a:spcBef>
                <a:spcPts val="100"/>
              </a:spcBef>
              <a:spcAft>
                <a:spcPts val="100"/>
              </a:spcAft>
              <a:defRPr sz="1300" b="1">
                <a:solidFill>
                  <a:srgbClr val="2A2A2A"/>
                </a:solidFill>
                <a:latin typeface="Calibri"/>
              </a:defRPr>
            </a:pPr>
            <a:r>
              <a:t>Suraj Lalwani (2024201071)</a:t>
            </a:r>
          </a:p>
          <a:p>
            <a:pPr algn="l">
              <a:spcBef>
                <a:spcPts val="100"/>
              </a:spcBef>
              <a:spcAft>
                <a:spcPts val="100"/>
              </a:spcAft>
              <a:defRPr sz="1200" b="0">
                <a:solidFill>
                  <a:srgbClr val="2A2A2A"/>
                </a:solidFill>
                <a:latin typeface="Calibri"/>
              </a:defRPr>
            </a:pPr>
            <a:r>
              <a:t>Data extraction from JSON, SpAM metrics, preprocessing pipelines.</a:t>
            </a:r>
          </a:p>
        </p:txBody>
      </p:sp>
      <p:sp>
        <p:nvSpPr>
          <p:cNvPr id="34" name="Rectangle 33"/>
          <p:cNvSpPr/>
          <p:nvPr/>
        </p:nvSpPr>
        <p:spPr>
          <a:xfrm>
            <a:off x="22745700" y="14392655"/>
            <a:ext cx="7200900" cy="457200"/>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2855428" y="14429231"/>
            <a:ext cx="6981444" cy="411480"/>
          </a:xfrm>
          <a:prstGeom prst="rect">
            <a:avLst/>
          </a:prstGeom>
          <a:noFill/>
        </p:spPr>
        <p:txBody>
          <a:bodyPr wrap="square">
            <a:spAutoFit/>
          </a:bodyPr>
          <a:lstStyle/>
          <a:p>
            <a:pPr algn="l">
              <a:defRPr sz="2000" b="1" i="0">
                <a:solidFill>
                  <a:srgbClr val="FFFFFF"/>
                </a:solidFill>
                <a:latin typeface="Arial"/>
              </a:defRPr>
            </a:pPr>
            <a:r>
              <a:t>REFERENCES</a:t>
            </a:r>
          </a:p>
        </p:txBody>
      </p:sp>
      <p:sp>
        <p:nvSpPr>
          <p:cNvPr id="36" name="TextBox 35"/>
          <p:cNvSpPr txBox="1"/>
          <p:nvPr/>
        </p:nvSpPr>
        <p:spPr>
          <a:xfrm>
            <a:off x="22745700" y="14923007"/>
            <a:ext cx="7200900" cy="5879592"/>
          </a:xfrm>
          <a:prstGeom prst="rect">
            <a:avLst/>
          </a:prstGeom>
          <a:noFill/>
        </p:spPr>
        <p:txBody>
          <a:bodyPr wrap="square">
            <a:spAutoFit/>
          </a:bodyPr>
          <a:lstStyle/>
          <a:p>
            <a:pPr algn="l">
              <a:spcBef>
                <a:spcPts val="100"/>
              </a:spcBef>
              <a:spcAft>
                <a:spcPts val="100"/>
              </a:spcAft>
              <a:defRPr sz="1200" b="0">
                <a:solidFill>
                  <a:srgbClr val="2A2A2A"/>
                </a:solidFill>
                <a:latin typeface="Calibri"/>
              </a:defRPr>
            </a:pPr>
            <a:r>
              <a:t>[1] Lezak et al. (2012). Neuropsychological Assessment. Oxford UP.</a:t>
            </a:r>
          </a:p>
          <a:p>
            <a:pPr algn="l">
              <a:spcBef>
                <a:spcPts val="100"/>
              </a:spcBef>
              <a:spcAft>
                <a:spcPts val="100"/>
              </a:spcAft>
              <a:defRPr sz="1200" b="0">
                <a:solidFill>
                  <a:srgbClr val="2A2A2A"/>
                </a:solidFill>
                <a:latin typeface="Calibri"/>
              </a:defRPr>
            </a:pPr>
            <a:r>
              <a:t>[2] Troyer et al. (1997). Clustering and switching in verbal fluency. Neuropsychology, 11(1), 138–146.</a:t>
            </a:r>
          </a:p>
          <a:p>
            <a:pPr algn="l">
              <a:spcBef>
                <a:spcPts val="100"/>
              </a:spcBef>
              <a:spcAft>
                <a:spcPts val="100"/>
              </a:spcAft>
              <a:defRPr sz="1200" b="0">
                <a:solidFill>
                  <a:srgbClr val="2A2A2A"/>
                </a:solidFill>
                <a:latin typeface="Calibri"/>
              </a:defRPr>
            </a:pPr>
            <a:r>
              <a:t>[3] Koch et al. (2016). Spatial arrangement method. Behavior Research Methods, 48, 442–456.</a:t>
            </a:r>
          </a:p>
          <a:p>
            <a:pPr algn="l">
              <a:spcBef>
                <a:spcPts val="100"/>
              </a:spcBef>
              <a:spcAft>
                <a:spcPts val="100"/>
              </a:spcAft>
              <a:defRPr sz="1200" b="0">
                <a:solidFill>
                  <a:srgbClr val="2A2A2A"/>
                </a:solidFill>
                <a:latin typeface="Calibri"/>
              </a:defRPr>
            </a:pPr>
            <a:r>
              <a:t>[4] Jeffreys, H. (1961). Theory of Probability. Oxford UP.</a:t>
            </a:r>
          </a:p>
          <a:p>
            <a:pPr algn="l">
              <a:spcBef>
                <a:spcPts val="100"/>
              </a:spcBef>
              <a:spcAft>
                <a:spcPts val="100"/>
              </a:spcAft>
              <a:defRPr sz="1200" b="0">
                <a:solidFill>
                  <a:srgbClr val="2A2A2A"/>
                </a:solidFill>
                <a:latin typeface="Calibri"/>
              </a:defRPr>
            </a:pPr>
            <a:r>
              <a:t>[5] Dautriche et al. (2016). Wordform similarity. Cognitive Science, 41, 2149–2169.</a:t>
            </a:r>
          </a:p>
        </p:txBody>
      </p:sp>
      <p:sp>
        <p:nvSpPr>
          <p:cNvPr id="37" name="Rectangle 36"/>
          <p:cNvSpPr/>
          <p:nvPr/>
        </p:nvSpPr>
        <p:spPr>
          <a:xfrm>
            <a:off x="0" y="20894039"/>
            <a:ext cx="3026664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20967191"/>
            <a:ext cx="12801600" cy="365760"/>
          </a:xfrm>
          <a:prstGeom prst="rect">
            <a:avLst/>
          </a:prstGeom>
          <a:noFill/>
        </p:spPr>
        <p:txBody>
          <a:bodyPr wrap="square">
            <a:spAutoFit/>
          </a:bodyPr>
          <a:lstStyle/>
          <a:p>
            <a:pPr algn="l">
              <a:defRPr sz="1300" b="0" i="0">
                <a:solidFill>
                  <a:srgbClr val="FFFFFF"/>
                </a:solidFill>
                <a:latin typeface="Arial"/>
              </a:defRPr>
            </a:pPr>
            <a:r>
              <a:t>BRSM Spring 2026  •  IIIT Hyderabad  •  Hindi Verbal Fluency &amp; Semantic Organization</a:t>
            </a:r>
          </a:p>
        </p:txBody>
      </p:sp>
      <p:sp>
        <p:nvSpPr>
          <p:cNvPr id="39" name="TextBox 38"/>
          <p:cNvSpPr txBox="1"/>
          <p:nvPr/>
        </p:nvSpPr>
        <p:spPr>
          <a:xfrm>
            <a:off x="17465040" y="20967191"/>
            <a:ext cx="12344400" cy="365760"/>
          </a:xfrm>
          <a:prstGeom prst="rect">
            <a:avLst/>
          </a:prstGeom>
          <a:noFill/>
        </p:spPr>
        <p:txBody>
          <a:bodyPr wrap="square">
            <a:spAutoFit/>
          </a:bodyPr>
          <a:lstStyle/>
          <a:p>
            <a:pPr algn="r">
              <a:defRPr sz="1200" b="0" i="0">
                <a:solidFill>
                  <a:srgbClr val="AACCEE"/>
                </a:solidFill>
                <a:latin typeface="Arial"/>
              </a:defRPr>
            </a:pPr>
            <a:r>
              <a:t>GitHub: github.com/fraz-uddin07/BRSM_GRP_52  •  Contact: fraz.uddin@research.iiit.ac.in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